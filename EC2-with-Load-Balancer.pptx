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 r:id="rId2"/>
    <p:sldId id="257" r:id="rId3"/>
    <p:sldId id="293" r:id="rId4"/>
    <p:sldId id="258" r:id="rId5"/>
    <p:sldId id="259" r:id="rId6"/>
    <p:sldId id="260" r:id="rId7"/>
    <p:sldId id="261" r:id="rId8"/>
    <p:sldId id="262" r:id="rId9"/>
    <p:sldId id="263" r:id="rId10"/>
    <p:sldId id="266" r:id="rId11"/>
    <p:sldId id="264" r:id="rId12"/>
    <p:sldId id="265" r:id="rId13"/>
    <p:sldId id="267" r:id="rId14"/>
    <p:sldId id="281" r:id="rId15"/>
    <p:sldId id="282" r:id="rId16"/>
    <p:sldId id="268" r:id="rId17"/>
    <p:sldId id="269" r:id="rId18"/>
    <p:sldId id="270" r:id="rId19"/>
    <p:sldId id="271" r:id="rId20"/>
    <p:sldId id="272" r:id="rId21"/>
    <p:sldId id="273" r:id="rId22"/>
    <p:sldId id="274" r:id="rId23"/>
    <p:sldId id="275" r:id="rId24"/>
    <p:sldId id="276" r:id="rId25"/>
    <p:sldId id="277" r:id="rId26"/>
    <p:sldId id="278" r:id="rId27"/>
    <p:sldId id="280" r:id="rId28"/>
    <p:sldId id="279" r:id="rId29"/>
    <p:sldId id="283" r:id="rId30"/>
    <p:sldId id="284" r:id="rId31"/>
    <p:sldId id="285" r:id="rId32"/>
    <p:sldId id="288" r:id="rId33"/>
    <p:sldId id="286" r:id="rId34"/>
    <p:sldId id="287" r:id="rId35"/>
    <p:sldId id="289" r:id="rId36"/>
    <p:sldId id="292" r:id="rId37"/>
    <p:sldId id="290"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FE122-BD89-4BA2-B9AE-5A47BAE61F77}" type="datetimeFigureOut">
              <a:rPr lang="en-IN" smtClean="0"/>
              <a:t>28-07-2026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AB0359-2302-4A05-A48F-28336F2A77BC}" type="slidenum">
              <a:rPr lang="en-IN" smtClean="0"/>
              <a:t>‹#›</a:t>
            </a:fld>
            <a:endParaRPr lang="en-IN"/>
          </a:p>
        </p:txBody>
      </p:sp>
    </p:spTree>
    <p:extLst>
      <p:ext uri="{BB962C8B-B14F-4D97-AF65-F5344CB8AC3E}">
        <p14:creationId xmlns:p14="http://schemas.microsoft.com/office/powerpoint/2010/main" val="2317539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93664AC-016B-4D0C-9812-F1445B97A807}"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110142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3664AC-016B-4D0C-9812-F1445B97A807}"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4076680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3664AC-016B-4D0C-9812-F1445B97A807}"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2456359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3664AC-016B-4D0C-9812-F1445B97A807}"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762298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3664AC-016B-4D0C-9812-F1445B97A807}" type="datetimeFigureOut">
              <a:rPr lang="en-IN" smtClean="0"/>
              <a:t>28-07-2026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2921217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3664AC-016B-4D0C-9812-F1445B97A807}" type="datetimeFigureOut">
              <a:rPr lang="en-IN" smtClean="0"/>
              <a:t>28-07-2026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814693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3664AC-016B-4D0C-9812-F1445B97A807}" type="datetimeFigureOut">
              <a:rPr lang="en-IN" smtClean="0"/>
              <a:t>28-07-2026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1854994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3664AC-016B-4D0C-9812-F1445B97A807}"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1635345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93664AC-016B-4D0C-9812-F1445B97A807}" type="datetimeFigureOut">
              <a:rPr lang="en-IN" smtClean="0"/>
              <a:t>28-07-2026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2795537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3664AC-016B-4D0C-9812-F1445B97A807}"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1394648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3664AC-016B-4D0C-9812-F1445B97A807}" type="datetimeFigureOut">
              <a:rPr lang="en-IN" smtClean="0"/>
              <a:t>28-07-2026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9D7267F-6D05-4693-89DA-D74D97516F77}" type="slidenum">
              <a:rPr lang="en-IN" smtClean="0"/>
              <a:t>‹#›</a:t>
            </a:fld>
            <a:endParaRPr lang="en-IN"/>
          </a:p>
        </p:txBody>
      </p:sp>
    </p:spTree>
    <p:extLst>
      <p:ext uri="{BB962C8B-B14F-4D97-AF65-F5344CB8AC3E}">
        <p14:creationId xmlns:p14="http://schemas.microsoft.com/office/powerpoint/2010/main" val="3555402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3664AC-016B-4D0C-9812-F1445B97A807}" type="datetimeFigureOut">
              <a:rPr lang="en-IN" smtClean="0"/>
              <a:t>28-07-2026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7267F-6D05-4693-89DA-D74D97516F77}" type="slidenum">
              <a:rPr lang="en-IN" smtClean="0"/>
              <a:t>‹#›</a:t>
            </a:fld>
            <a:endParaRPr lang="en-IN"/>
          </a:p>
        </p:txBody>
      </p:sp>
    </p:spTree>
    <p:extLst>
      <p:ext uri="{BB962C8B-B14F-4D97-AF65-F5344CB8AC3E}">
        <p14:creationId xmlns:p14="http://schemas.microsoft.com/office/powerpoint/2010/main" val="8490431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4C4FDA-C9E5-8D8E-26D9-160BC81919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3957326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87FEC5E-5F7C-DC0F-30F8-68C0642F76ED}"/>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5" name="TextBox 4">
            <a:extLst>
              <a:ext uri="{FF2B5EF4-FFF2-40B4-BE49-F238E27FC236}">
                <a16:creationId xmlns:a16="http://schemas.microsoft.com/office/drawing/2014/main" id="{337BE776-BC50-2A72-3643-09A253189217}"/>
              </a:ext>
            </a:extLst>
          </p:cNvPr>
          <p:cNvSpPr txBox="1"/>
          <p:nvPr/>
        </p:nvSpPr>
        <p:spPr>
          <a:xfrm>
            <a:off x="137652" y="530942"/>
            <a:ext cx="3628104" cy="461665"/>
          </a:xfrm>
          <a:prstGeom prst="rect">
            <a:avLst/>
          </a:prstGeom>
          <a:noFill/>
        </p:spPr>
        <p:txBody>
          <a:bodyPr wrap="square" rtlCol="0">
            <a:spAutoFit/>
          </a:bodyPr>
          <a:lstStyle/>
          <a:p>
            <a:r>
              <a:rPr lang="en-US" sz="2400" b="1" dirty="0">
                <a:latin typeface="Baskerville Old Face" panose="02020602080505020303" pitchFamily="18" charset="0"/>
              </a:rPr>
              <a:t>📌INTRODUCTION</a:t>
            </a:r>
            <a:endParaRPr lang="en-IN" sz="2400" b="1" dirty="0">
              <a:latin typeface="Baskerville Old Face" panose="02020602080505020303" pitchFamily="18" charset="0"/>
            </a:endParaRPr>
          </a:p>
        </p:txBody>
      </p:sp>
      <p:sp>
        <p:nvSpPr>
          <p:cNvPr id="6" name="TextBox 5">
            <a:extLst>
              <a:ext uri="{FF2B5EF4-FFF2-40B4-BE49-F238E27FC236}">
                <a16:creationId xmlns:a16="http://schemas.microsoft.com/office/drawing/2014/main" id="{60674C16-3F59-DB4B-46CD-66745B11B335}"/>
              </a:ext>
            </a:extLst>
          </p:cNvPr>
          <p:cNvSpPr txBox="1"/>
          <p:nvPr/>
        </p:nvSpPr>
        <p:spPr>
          <a:xfrm>
            <a:off x="530941" y="1054162"/>
            <a:ext cx="10923640" cy="1200329"/>
          </a:xfrm>
          <a:prstGeom prst="rect">
            <a:avLst/>
          </a:prstGeom>
          <a:noFill/>
        </p:spPr>
        <p:txBody>
          <a:bodyPr wrap="square" rtlCol="0">
            <a:spAutoFit/>
          </a:bodyPr>
          <a:lstStyle/>
          <a:p>
            <a:r>
              <a:rPr lang="en-IN" dirty="0">
                <a:latin typeface="Baskerville Old Face" panose="02020602080505020303" pitchFamily="18" charset="0"/>
              </a:rPr>
              <a:t>A </a:t>
            </a:r>
            <a:r>
              <a:rPr lang="en-IN" b="1" dirty="0">
                <a:latin typeface="Baskerville Old Face" panose="02020602080505020303" pitchFamily="18" charset="0"/>
              </a:rPr>
              <a:t>Load Balancer</a:t>
            </a:r>
            <a:r>
              <a:rPr lang="en-IN" dirty="0">
                <a:latin typeface="Baskerville Old Face" panose="02020602080505020303" pitchFamily="18" charset="0"/>
              </a:rPr>
              <a:t> is a service that distributes incoming network traffic across multiple servers (such as EC2 instances) to ensure high availability, reliability, and optimal performance. It prevents any single server from becoming overloaded, improves application response time, and automatically routes traffic only to healthy servers. In cloud environments like </a:t>
            </a:r>
            <a:r>
              <a:rPr lang="en-IN" b="1" dirty="0">
                <a:latin typeface="Baskerville Old Face" panose="02020602080505020303" pitchFamily="18" charset="0"/>
              </a:rPr>
              <a:t>Amazon Web Services (AWS)</a:t>
            </a:r>
            <a:r>
              <a:rPr lang="en-IN" dirty="0">
                <a:latin typeface="Baskerville Old Face" panose="02020602080505020303" pitchFamily="18" charset="0"/>
              </a:rPr>
              <a:t>, load balancers help build scalable, fault-tolerant, and highly available applications.</a:t>
            </a:r>
          </a:p>
        </p:txBody>
      </p:sp>
      <p:sp>
        <p:nvSpPr>
          <p:cNvPr id="7" name="TextBox 6">
            <a:extLst>
              <a:ext uri="{FF2B5EF4-FFF2-40B4-BE49-F238E27FC236}">
                <a16:creationId xmlns:a16="http://schemas.microsoft.com/office/drawing/2014/main" id="{3341DB0E-D949-829A-5CB5-C8078A269EA5}"/>
              </a:ext>
            </a:extLst>
          </p:cNvPr>
          <p:cNvSpPr txBox="1"/>
          <p:nvPr/>
        </p:nvSpPr>
        <p:spPr>
          <a:xfrm>
            <a:off x="403123" y="6327058"/>
            <a:ext cx="11464412"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
        <p:nvSpPr>
          <p:cNvPr id="8" name="TextBox 7">
            <a:extLst>
              <a:ext uri="{FF2B5EF4-FFF2-40B4-BE49-F238E27FC236}">
                <a16:creationId xmlns:a16="http://schemas.microsoft.com/office/drawing/2014/main" id="{EF6FDC72-E18A-5C71-083E-9B9F42BB2767}"/>
              </a:ext>
            </a:extLst>
          </p:cNvPr>
          <p:cNvSpPr txBox="1"/>
          <p:nvPr/>
        </p:nvSpPr>
        <p:spPr>
          <a:xfrm>
            <a:off x="137652" y="2525109"/>
            <a:ext cx="3883742" cy="461665"/>
          </a:xfrm>
          <a:prstGeom prst="rect">
            <a:avLst/>
          </a:prstGeom>
          <a:noFill/>
        </p:spPr>
        <p:txBody>
          <a:bodyPr wrap="square" rtlCol="0">
            <a:spAutoFit/>
          </a:bodyPr>
          <a:lstStyle/>
          <a:p>
            <a:r>
              <a:rPr lang="en-US" sz="2400" dirty="0">
                <a:latin typeface="Baskerville Old Face" panose="02020602080505020303" pitchFamily="18" charset="0"/>
              </a:rPr>
              <a:t>🗒️PREREQUISITES</a:t>
            </a:r>
            <a:endParaRPr lang="en-IN" sz="2400" dirty="0">
              <a:latin typeface="Baskerville Old Face" panose="02020602080505020303" pitchFamily="18" charset="0"/>
            </a:endParaRPr>
          </a:p>
        </p:txBody>
      </p:sp>
      <p:sp>
        <p:nvSpPr>
          <p:cNvPr id="9" name="TextBox 8">
            <a:extLst>
              <a:ext uri="{FF2B5EF4-FFF2-40B4-BE49-F238E27FC236}">
                <a16:creationId xmlns:a16="http://schemas.microsoft.com/office/drawing/2014/main" id="{4623B38E-CA24-DA80-C4DA-E8B2D8DD447C}"/>
              </a:ext>
            </a:extLst>
          </p:cNvPr>
          <p:cNvSpPr txBox="1"/>
          <p:nvPr/>
        </p:nvSpPr>
        <p:spPr>
          <a:xfrm>
            <a:off x="530941" y="3032941"/>
            <a:ext cx="3569110" cy="369332"/>
          </a:xfrm>
          <a:prstGeom prst="rect">
            <a:avLst/>
          </a:prstGeom>
          <a:noFill/>
        </p:spPr>
        <p:txBody>
          <a:bodyPr wrap="square" rtlCol="0">
            <a:spAutoFit/>
          </a:bodyPr>
          <a:lstStyle/>
          <a:p>
            <a:r>
              <a:rPr lang="en-US" dirty="0">
                <a:latin typeface="Baskerville Old Face" panose="02020602080505020303" pitchFamily="18" charset="0"/>
              </a:rPr>
              <a:t>Before you begin, ensure you have:</a:t>
            </a:r>
            <a:endParaRPr lang="en-IN" dirty="0">
              <a:latin typeface="Baskerville Old Face" panose="02020602080505020303" pitchFamily="18" charset="0"/>
            </a:endParaRPr>
          </a:p>
        </p:txBody>
      </p:sp>
      <p:sp>
        <p:nvSpPr>
          <p:cNvPr id="10" name="TextBox 9">
            <a:extLst>
              <a:ext uri="{FF2B5EF4-FFF2-40B4-BE49-F238E27FC236}">
                <a16:creationId xmlns:a16="http://schemas.microsoft.com/office/drawing/2014/main" id="{A033B946-6904-54D4-4875-021D1784564B}"/>
              </a:ext>
            </a:extLst>
          </p:cNvPr>
          <p:cNvSpPr txBox="1"/>
          <p:nvPr/>
        </p:nvSpPr>
        <p:spPr>
          <a:xfrm>
            <a:off x="825908" y="3455728"/>
            <a:ext cx="8170607" cy="1354217"/>
          </a:xfrm>
          <a:prstGeom prst="rect">
            <a:avLst/>
          </a:prstGeom>
          <a:noFill/>
        </p:spPr>
        <p:txBody>
          <a:bodyPr wrap="square" rtlCol="0">
            <a:spAutoFit/>
          </a:bodyPr>
          <a:lstStyle/>
          <a:p>
            <a:r>
              <a:rPr lang="en-US" sz="1600" dirty="0">
                <a:latin typeface="Baskerville Old Face" panose="02020602080505020303" pitchFamily="18" charset="0"/>
              </a:rPr>
              <a:t>An AWS account</a:t>
            </a:r>
          </a:p>
          <a:p>
            <a:endParaRPr lang="en-US" sz="1600" dirty="0">
              <a:latin typeface="Baskerville Old Face" panose="02020602080505020303" pitchFamily="18" charset="0"/>
            </a:endParaRPr>
          </a:p>
          <a:p>
            <a:r>
              <a:rPr lang="en-IN" sz="1600" dirty="0">
                <a:latin typeface="Baskerville Old Face" panose="02020602080505020303" pitchFamily="18" charset="0"/>
              </a:rPr>
              <a:t>Basics Knowledge of AWS EC2 Security Groups, Target Groups and Load Balancing</a:t>
            </a:r>
          </a:p>
          <a:p>
            <a:endParaRPr lang="en-IN" sz="1600" dirty="0">
              <a:latin typeface="Baskerville Old Face" panose="02020602080505020303" pitchFamily="18" charset="0"/>
            </a:endParaRPr>
          </a:p>
          <a:p>
            <a:r>
              <a:rPr lang="en-IN" dirty="0">
                <a:latin typeface="Baskerville Old Face" panose="02020602080505020303" pitchFamily="18" charset="0"/>
              </a:rPr>
              <a:t>Internet Access to log into AWS Management Console</a:t>
            </a:r>
            <a:endParaRPr lang="en-US" dirty="0">
              <a:latin typeface="Baskerville Old Face" panose="02020602080505020303" pitchFamily="18" charset="0"/>
            </a:endParaRPr>
          </a:p>
        </p:txBody>
      </p:sp>
    </p:spTree>
    <p:extLst>
      <p:ext uri="{BB962C8B-B14F-4D97-AF65-F5344CB8AC3E}">
        <p14:creationId xmlns:p14="http://schemas.microsoft.com/office/powerpoint/2010/main" val="4188279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7710769-EAA0-97EE-06A6-1EE42CAF0AAC}"/>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60D62C65-83E0-3738-368C-290DD466AD78}"/>
              </a:ext>
            </a:extLst>
          </p:cNvPr>
          <p:cNvSpPr txBox="1"/>
          <p:nvPr/>
        </p:nvSpPr>
        <p:spPr>
          <a:xfrm>
            <a:off x="444183" y="218209"/>
            <a:ext cx="11274136" cy="7171194"/>
          </a:xfrm>
          <a:prstGeom prst="rect">
            <a:avLst/>
          </a:prstGeom>
          <a:noFill/>
        </p:spPr>
        <p:txBody>
          <a:bodyPr wrap="square" rtlCol="0">
            <a:spAutoFit/>
          </a:bodyPr>
          <a:lstStyle/>
          <a:p>
            <a:r>
              <a:rPr lang="en-IN" b="1" dirty="0">
                <a:latin typeface="Cambria Math" panose="02040503050406030204" pitchFamily="18" charset="0"/>
                <a:ea typeface="Cambria Math" panose="02040503050406030204" pitchFamily="18" charset="0"/>
              </a:rPr>
              <a:t>1. Security Group</a:t>
            </a:r>
          </a:p>
          <a:p>
            <a:r>
              <a:rPr lang="en-IN" sz="1600" dirty="0">
                <a:latin typeface="Cambria Math" panose="02040503050406030204" pitchFamily="18" charset="0"/>
                <a:ea typeface="Cambria Math" panose="02040503050406030204" pitchFamily="18" charset="0"/>
              </a:rPr>
              <a:t>"First, I created a Security Group. A Security Group acts as a virtual firewall that controls inbound and outbound traffic. I allowed HTTP (80) and HTTPS (443) traffic for users, and SSH (22) for secure administration."</a:t>
            </a:r>
          </a:p>
          <a:p>
            <a:r>
              <a:rPr lang="en-IN" sz="1600" dirty="0">
                <a:latin typeface="Cambria Math" panose="02040503050406030204" pitchFamily="18" charset="0"/>
                <a:ea typeface="Cambria Math" panose="02040503050406030204" pitchFamily="18" charset="0"/>
              </a:rPr>
              <a:t>Role: Protects the Load Balancer and EC2 instances by allowing only required traffic.</a:t>
            </a:r>
          </a:p>
          <a:p>
            <a:br>
              <a:rPr lang="en-IN" dirty="0"/>
            </a:br>
            <a:endParaRPr lang="en-IN" dirty="0"/>
          </a:p>
          <a:p>
            <a:r>
              <a:rPr lang="en-IN" b="1" dirty="0">
                <a:latin typeface="Cambria Math" panose="02040503050406030204" pitchFamily="18" charset="0"/>
                <a:ea typeface="Cambria Math" panose="02040503050406030204" pitchFamily="18" charset="0"/>
              </a:rPr>
              <a:t>2. EC2 Instance</a:t>
            </a:r>
          </a:p>
          <a:p>
            <a:r>
              <a:rPr lang="en-IN" sz="1600" dirty="0">
                <a:latin typeface="Cambria Math" panose="02040503050406030204" pitchFamily="18" charset="0"/>
                <a:ea typeface="Cambria Math" panose="02040503050406030204" pitchFamily="18" charset="0"/>
              </a:rPr>
              <a:t>"Next, I launched EC2 instances. An EC2 instance is a virtual server in AWS where I deployed my web application. These instances process user requests."</a:t>
            </a:r>
          </a:p>
          <a:p>
            <a:r>
              <a:rPr lang="en-IN" sz="1600" b="1" dirty="0">
                <a:latin typeface="Cambria Math" panose="02040503050406030204" pitchFamily="18" charset="0"/>
                <a:ea typeface="Cambria Math" panose="02040503050406030204" pitchFamily="18" charset="0"/>
              </a:rPr>
              <a:t>Role:</a:t>
            </a:r>
            <a:r>
              <a:rPr lang="en-IN" sz="1600" dirty="0">
                <a:latin typeface="Cambria Math" panose="02040503050406030204" pitchFamily="18" charset="0"/>
                <a:ea typeface="Cambria Math" panose="02040503050406030204" pitchFamily="18" charset="0"/>
              </a:rPr>
              <a:t> Hosts and runs the application.</a:t>
            </a:r>
          </a:p>
          <a:p>
            <a:br>
              <a:rPr lang="en-IN" sz="1600" dirty="0"/>
            </a:br>
            <a:endParaRPr lang="en-IN" sz="1600" dirty="0"/>
          </a:p>
          <a:p>
            <a:r>
              <a:rPr lang="en-IN" b="1" dirty="0">
                <a:latin typeface="Cambria Math" panose="02040503050406030204" pitchFamily="18" charset="0"/>
                <a:ea typeface="Cambria Math" panose="02040503050406030204" pitchFamily="18" charset="0"/>
              </a:rPr>
              <a:t>3. Target Group</a:t>
            </a:r>
          </a:p>
          <a:p>
            <a:r>
              <a:rPr lang="en-IN" sz="1600" dirty="0">
                <a:latin typeface="Cambria Math" panose="02040503050406030204" pitchFamily="18" charset="0"/>
                <a:ea typeface="Cambria Math" panose="02040503050406030204" pitchFamily="18" charset="0"/>
              </a:rPr>
              <a:t>"After that, I created a Target Group and registered my EC2 instances. The Target Group performs health checks and ensures that the Load Balancer sends traffic only to healthy EC2 instances."</a:t>
            </a:r>
          </a:p>
          <a:p>
            <a:r>
              <a:rPr lang="en-IN" sz="1600" dirty="0">
                <a:latin typeface="Cambria Math" panose="02040503050406030204" pitchFamily="18" charset="0"/>
                <a:ea typeface="Cambria Math" panose="02040503050406030204" pitchFamily="18" charset="0"/>
              </a:rPr>
              <a:t>Role: Groups EC2 instances and monitors their health.</a:t>
            </a:r>
          </a:p>
          <a:p>
            <a:br>
              <a:rPr lang="en-IN" sz="1600" dirty="0"/>
            </a:br>
            <a:endParaRPr lang="en-IN" sz="1600" dirty="0"/>
          </a:p>
          <a:p>
            <a:r>
              <a:rPr lang="en-IN" b="1" dirty="0">
                <a:latin typeface="Cambria Math" panose="02040503050406030204" pitchFamily="18" charset="0"/>
                <a:ea typeface="Cambria Math" panose="02040503050406030204" pitchFamily="18" charset="0"/>
              </a:rPr>
              <a:t>4. Load Balancer (ALB)</a:t>
            </a:r>
          </a:p>
          <a:p>
            <a:r>
              <a:rPr lang="en-IN" sz="1600" dirty="0">
                <a:latin typeface="Cambria Math" panose="02040503050406030204" pitchFamily="18" charset="0"/>
                <a:ea typeface="Cambria Math" panose="02040503050406030204" pitchFamily="18" charset="0"/>
              </a:rPr>
              <a:t>"Finally, I created an Application Load Balancer (ALB). I attached the Security Group, selected the VPC and subnets, and connected it to the Target Group. The Load Balancer receives incoming user requests and distributes them across the healthy EC2 instances."</a:t>
            </a:r>
          </a:p>
          <a:p>
            <a:r>
              <a:rPr lang="en-IN" sz="1600" b="1" dirty="0">
                <a:latin typeface="Cambria Math" panose="02040503050406030204" pitchFamily="18" charset="0"/>
                <a:ea typeface="Cambria Math" panose="02040503050406030204" pitchFamily="18" charset="0"/>
              </a:rPr>
              <a:t>Role:</a:t>
            </a:r>
            <a:r>
              <a:rPr lang="en-IN" sz="1600" dirty="0">
                <a:latin typeface="Cambria Math" panose="02040503050406030204" pitchFamily="18" charset="0"/>
                <a:ea typeface="Cambria Math" panose="02040503050406030204" pitchFamily="18" charset="0"/>
              </a:rPr>
              <a:t> Distributes incoming traffic to healthy EC2 instances, ensuring high availability, scalability, and fault tolerance.</a:t>
            </a:r>
          </a:p>
          <a:p>
            <a:br>
              <a:rPr lang="en-IN" dirty="0"/>
            </a:br>
            <a:endParaRPr lang="en-IN" dirty="0"/>
          </a:p>
          <a:p>
            <a:br>
              <a:rPr lang="en-IN" dirty="0"/>
            </a:br>
            <a:endParaRPr lang="en-IN" dirty="0"/>
          </a:p>
        </p:txBody>
      </p:sp>
    </p:spTree>
    <p:extLst>
      <p:ext uri="{BB962C8B-B14F-4D97-AF65-F5344CB8AC3E}">
        <p14:creationId xmlns:p14="http://schemas.microsoft.com/office/powerpoint/2010/main" val="2697506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BBE02A3-930E-AA5B-597B-F76C1B127E48}"/>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11" name="TextBox 10">
            <a:extLst>
              <a:ext uri="{FF2B5EF4-FFF2-40B4-BE49-F238E27FC236}">
                <a16:creationId xmlns:a16="http://schemas.microsoft.com/office/drawing/2014/main" id="{7EA361AA-1704-462E-7A22-91760BF51CB8}"/>
              </a:ext>
            </a:extLst>
          </p:cNvPr>
          <p:cNvSpPr txBox="1"/>
          <p:nvPr/>
        </p:nvSpPr>
        <p:spPr>
          <a:xfrm>
            <a:off x="314632" y="324465"/>
            <a:ext cx="8554065" cy="461665"/>
          </a:xfrm>
          <a:prstGeom prst="rect">
            <a:avLst/>
          </a:prstGeom>
          <a:noFill/>
        </p:spPr>
        <p:txBody>
          <a:bodyPr wrap="square" rtlCol="0">
            <a:spAutoFit/>
          </a:bodyPr>
          <a:lstStyle/>
          <a:p>
            <a:r>
              <a:rPr lang="en-US" sz="2400" b="1" dirty="0">
                <a:latin typeface="Baskerville Old Face" panose="02020602080505020303" pitchFamily="18" charset="0"/>
              </a:rPr>
              <a:t>🏗️Steps to Set Up the Infrastructure</a:t>
            </a:r>
            <a:endParaRPr lang="en-IN" sz="2400" b="1" dirty="0">
              <a:latin typeface="Baskerville Old Face" panose="02020602080505020303" pitchFamily="18" charset="0"/>
            </a:endParaRPr>
          </a:p>
        </p:txBody>
      </p:sp>
      <p:sp>
        <p:nvSpPr>
          <p:cNvPr id="12" name="TextBox 11">
            <a:extLst>
              <a:ext uri="{FF2B5EF4-FFF2-40B4-BE49-F238E27FC236}">
                <a16:creationId xmlns:a16="http://schemas.microsoft.com/office/drawing/2014/main" id="{445541B8-CE51-F98F-28D0-FEECD0A22407}"/>
              </a:ext>
            </a:extLst>
          </p:cNvPr>
          <p:cNvSpPr txBox="1"/>
          <p:nvPr/>
        </p:nvSpPr>
        <p:spPr>
          <a:xfrm>
            <a:off x="1032387" y="802385"/>
            <a:ext cx="3687096" cy="400110"/>
          </a:xfrm>
          <a:prstGeom prst="rect">
            <a:avLst/>
          </a:prstGeom>
          <a:noFill/>
        </p:spPr>
        <p:txBody>
          <a:bodyPr wrap="square" rtlCol="0">
            <a:spAutoFit/>
          </a:bodyPr>
          <a:lstStyle/>
          <a:p>
            <a:r>
              <a:rPr lang="en-US" sz="2000" dirty="0">
                <a:latin typeface="Cambria Math" panose="02040503050406030204" pitchFamily="18" charset="0"/>
                <a:ea typeface="Cambria Math" panose="02040503050406030204" pitchFamily="18" charset="0"/>
              </a:rPr>
              <a:t>CONFIGURE SECURITY GROUP</a:t>
            </a:r>
            <a:endParaRPr lang="en-IN" sz="2000" dirty="0">
              <a:latin typeface="Cambria Math" panose="02040503050406030204" pitchFamily="18" charset="0"/>
              <a:ea typeface="Cambria Math" panose="02040503050406030204" pitchFamily="18" charset="0"/>
            </a:endParaRPr>
          </a:p>
        </p:txBody>
      </p:sp>
      <p:sp>
        <p:nvSpPr>
          <p:cNvPr id="13" name="TextBox 12">
            <a:extLst>
              <a:ext uri="{FF2B5EF4-FFF2-40B4-BE49-F238E27FC236}">
                <a16:creationId xmlns:a16="http://schemas.microsoft.com/office/drawing/2014/main" id="{BC87DB62-1575-2EFD-5851-2E97E874EB5E}"/>
              </a:ext>
            </a:extLst>
          </p:cNvPr>
          <p:cNvSpPr txBox="1"/>
          <p:nvPr/>
        </p:nvSpPr>
        <p:spPr>
          <a:xfrm>
            <a:off x="1032387" y="1218750"/>
            <a:ext cx="5073445" cy="369332"/>
          </a:xfrm>
          <a:prstGeom prst="rect">
            <a:avLst/>
          </a:prstGeom>
          <a:noFill/>
        </p:spPr>
        <p:txBody>
          <a:bodyPr wrap="square" rtlCol="0">
            <a:spAutoFit/>
          </a:bodyPr>
          <a:lstStyle/>
          <a:p>
            <a:r>
              <a:rPr lang="en-US" b="1" dirty="0">
                <a:latin typeface="Baskerville Old Face" panose="02020602080505020303" pitchFamily="18" charset="0"/>
              </a:rPr>
              <a:t>1. Go to</a:t>
            </a:r>
            <a:r>
              <a:rPr lang="en-US" dirty="0">
                <a:latin typeface="Baskerville Old Face" panose="02020602080505020303" pitchFamily="18" charset="0"/>
              </a:rPr>
              <a:t> </a:t>
            </a:r>
            <a:r>
              <a:rPr lang="en-US" b="1" dirty="0">
                <a:latin typeface="Baskerville Old Face" panose="02020602080505020303" pitchFamily="18" charset="0"/>
              </a:rPr>
              <a:t>AWS Management Console.</a:t>
            </a:r>
            <a:endParaRPr lang="en-IN" b="1" dirty="0">
              <a:latin typeface="Baskerville Old Face" panose="02020602080505020303" pitchFamily="18" charset="0"/>
            </a:endParaRPr>
          </a:p>
        </p:txBody>
      </p:sp>
      <p:pic>
        <p:nvPicPr>
          <p:cNvPr id="15" name="Picture 14">
            <a:extLst>
              <a:ext uri="{FF2B5EF4-FFF2-40B4-BE49-F238E27FC236}">
                <a16:creationId xmlns:a16="http://schemas.microsoft.com/office/drawing/2014/main" id="{5EE09976-0487-08BA-7288-24CEB23344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760" y="1759974"/>
            <a:ext cx="10953137" cy="4295641"/>
          </a:xfrm>
          <a:prstGeom prst="rect">
            <a:avLst/>
          </a:prstGeom>
        </p:spPr>
      </p:pic>
      <p:sp>
        <p:nvSpPr>
          <p:cNvPr id="2" name="TextBox 1">
            <a:extLst>
              <a:ext uri="{FF2B5EF4-FFF2-40B4-BE49-F238E27FC236}">
                <a16:creationId xmlns:a16="http://schemas.microsoft.com/office/drawing/2014/main" id="{78B842AC-625E-5BFC-4E04-4F7D1E65B846}"/>
              </a:ext>
            </a:extLst>
          </p:cNvPr>
          <p:cNvSpPr txBox="1"/>
          <p:nvPr/>
        </p:nvSpPr>
        <p:spPr>
          <a:xfrm>
            <a:off x="471948" y="6364258"/>
            <a:ext cx="11720052"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55084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9E22A7E-08FB-74F9-F059-BE19925130E1}"/>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785DE9C7-6143-44E2-A2AE-D4281F1AFEB6}"/>
              </a:ext>
            </a:extLst>
          </p:cNvPr>
          <p:cNvSpPr txBox="1"/>
          <p:nvPr/>
        </p:nvSpPr>
        <p:spPr>
          <a:xfrm>
            <a:off x="353962" y="196646"/>
            <a:ext cx="3814915" cy="461665"/>
          </a:xfrm>
          <a:prstGeom prst="rect">
            <a:avLst/>
          </a:prstGeom>
          <a:noFill/>
        </p:spPr>
        <p:txBody>
          <a:bodyPr wrap="square" rtlCol="0">
            <a:spAutoFit/>
          </a:bodyPr>
          <a:lstStyle/>
          <a:p>
            <a:r>
              <a:rPr lang="en-US" sz="2400" b="1" dirty="0">
                <a:latin typeface="Baskerville Old Face" panose="02020602080505020303" pitchFamily="18" charset="0"/>
              </a:rPr>
              <a:t>2. Search And Click EC2</a:t>
            </a:r>
            <a:endParaRPr lang="en-IN" sz="2400" b="1" dirty="0">
              <a:latin typeface="Baskerville Old Face" panose="02020602080505020303" pitchFamily="18" charset="0"/>
            </a:endParaRPr>
          </a:p>
        </p:txBody>
      </p:sp>
      <p:pic>
        <p:nvPicPr>
          <p:cNvPr id="8" name="Picture 7">
            <a:extLst>
              <a:ext uri="{FF2B5EF4-FFF2-40B4-BE49-F238E27FC236}">
                <a16:creationId xmlns:a16="http://schemas.microsoft.com/office/drawing/2014/main" id="{162FA031-8849-8513-BD73-7C28DB9394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749" y="825911"/>
            <a:ext cx="10127226" cy="4660490"/>
          </a:xfrm>
          <a:prstGeom prst="rect">
            <a:avLst/>
          </a:prstGeom>
        </p:spPr>
      </p:pic>
      <p:sp>
        <p:nvSpPr>
          <p:cNvPr id="2" name="TextBox 1">
            <a:extLst>
              <a:ext uri="{FF2B5EF4-FFF2-40B4-BE49-F238E27FC236}">
                <a16:creationId xmlns:a16="http://schemas.microsoft.com/office/drawing/2014/main" id="{F01A1221-8C96-0CD3-95BC-DECF18EEBE89}"/>
              </a:ext>
            </a:extLst>
          </p:cNvPr>
          <p:cNvSpPr txBox="1"/>
          <p:nvPr/>
        </p:nvSpPr>
        <p:spPr>
          <a:xfrm>
            <a:off x="530942" y="6320898"/>
            <a:ext cx="11779045"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861826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7F02B39-A0E5-01E4-C554-25307C321EF7}"/>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BF8E7FF2-6639-B8CC-3DD8-24DB624DEF08}"/>
              </a:ext>
            </a:extLst>
          </p:cNvPr>
          <p:cNvSpPr txBox="1"/>
          <p:nvPr/>
        </p:nvSpPr>
        <p:spPr>
          <a:xfrm>
            <a:off x="294968" y="186813"/>
            <a:ext cx="5712542" cy="461665"/>
          </a:xfrm>
          <a:prstGeom prst="rect">
            <a:avLst/>
          </a:prstGeom>
          <a:noFill/>
        </p:spPr>
        <p:txBody>
          <a:bodyPr wrap="square" rtlCol="0">
            <a:spAutoFit/>
          </a:bodyPr>
          <a:lstStyle/>
          <a:p>
            <a:r>
              <a:rPr lang="en-US" sz="2400" b="1" dirty="0">
                <a:latin typeface="Baskerville Old Face" panose="02020602080505020303" pitchFamily="18" charset="0"/>
              </a:rPr>
              <a:t>3. Click on Security Group</a:t>
            </a:r>
            <a:endParaRPr lang="en-IN" sz="2400" b="1" dirty="0">
              <a:latin typeface="Baskerville Old Face" panose="02020602080505020303" pitchFamily="18" charset="0"/>
            </a:endParaRPr>
          </a:p>
        </p:txBody>
      </p:sp>
      <p:pic>
        <p:nvPicPr>
          <p:cNvPr id="8" name="Picture 7">
            <a:extLst>
              <a:ext uri="{FF2B5EF4-FFF2-40B4-BE49-F238E27FC236}">
                <a16:creationId xmlns:a16="http://schemas.microsoft.com/office/drawing/2014/main" id="{A9D0A8CF-560D-EA3B-A1DB-081C52B4E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8026" y="801256"/>
            <a:ext cx="2133600" cy="1853454"/>
          </a:xfrm>
          <a:prstGeom prst="rect">
            <a:avLst/>
          </a:prstGeom>
        </p:spPr>
      </p:pic>
      <p:sp>
        <p:nvSpPr>
          <p:cNvPr id="9" name="Rectangle 8">
            <a:extLst>
              <a:ext uri="{FF2B5EF4-FFF2-40B4-BE49-F238E27FC236}">
                <a16:creationId xmlns:a16="http://schemas.microsoft.com/office/drawing/2014/main" id="{30EA69CA-8C17-109A-5B4C-81BCA06626A8}"/>
              </a:ext>
            </a:extLst>
          </p:cNvPr>
          <p:cNvSpPr/>
          <p:nvPr/>
        </p:nvSpPr>
        <p:spPr>
          <a:xfrm>
            <a:off x="1494503" y="1140542"/>
            <a:ext cx="1366684" cy="30480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10" name="TextBox 9">
            <a:extLst>
              <a:ext uri="{FF2B5EF4-FFF2-40B4-BE49-F238E27FC236}">
                <a16:creationId xmlns:a16="http://schemas.microsoft.com/office/drawing/2014/main" id="{EB81B144-DF05-110E-FA41-392FCDE7351A}"/>
              </a:ext>
            </a:extLst>
          </p:cNvPr>
          <p:cNvSpPr txBox="1"/>
          <p:nvPr/>
        </p:nvSpPr>
        <p:spPr>
          <a:xfrm>
            <a:off x="363794" y="2880852"/>
            <a:ext cx="5574890" cy="461665"/>
          </a:xfrm>
          <a:prstGeom prst="rect">
            <a:avLst/>
          </a:prstGeom>
          <a:noFill/>
        </p:spPr>
        <p:txBody>
          <a:bodyPr wrap="square" rtlCol="0">
            <a:spAutoFit/>
          </a:bodyPr>
          <a:lstStyle/>
          <a:p>
            <a:r>
              <a:rPr lang="en-US" sz="2400" dirty="0">
                <a:latin typeface="Baskerville Old Face" panose="02020602080505020303" pitchFamily="18" charset="0"/>
              </a:rPr>
              <a:t>4. Click on </a:t>
            </a:r>
            <a:r>
              <a:rPr lang="en-US" sz="2400" b="1" dirty="0">
                <a:latin typeface="Baskerville Old Face" panose="02020602080505020303" pitchFamily="18" charset="0"/>
              </a:rPr>
              <a:t>Create Security Group.</a:t>
            </a:r>
            <a:endParaRPr lang="en-IN" sz="2400" b="1" dirty="0">
              <a:latin typeface="Baskerville Old Face" panose="02020602080505020303" pitchFamily="18" charset="0"/>
            </a:endParaRPr>
          </a:p>
        </p:txBody>
      </p:sp>
      <p:pic>
        <p:nvPicPr>
          <p:cNvPr id="12" name="Picture 11">
            <a:extLst>
              <a:ext uri="{FF2B5EF4-FFF2-40B4-BE49-F238E27FC236}">
                <a16:creationId xmlns:a16="http://schemas.microsoft.com/office/drawing/2014/main" id="{A84082AD-055C-1F69-4665-28B40B4612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394" y="3429000"/>
            <a:ext cx="10550012" cy="2421194"/>
          </a:xfrm>
          <a:prstGeom prst="rect">
            <a:avLst/>
          </a:prstGeom>
        </p:spPr>
      </p:pic>
      <p:sp>
        <p:nvSpPr>
          <p:cNvPr id="2" name="TextBox 1">
            <a:extLst>
              <a:ext uri="{FF2B5EF4-FFF2-40B4-BE49-F238E27FC236}">
                <a16:creationId xmlns:a16="http://schemas.microsoft.com/office/drawing/2014/main" id="{9C9D3AC9-D4DC-2558-A20D-4C7E874ECD67}"/>
              </a:ext>
            </a:extLst>
          </p:cNvPr>
          <p:cNvSpPr txBox="1"/>
          <p:nvPr/>
        </p:nvSpPr>
        <p:spPr>
          <a:xfrm>
            <a:off x="530942" y="6324808"/>
            <a:ext cx="11661058"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
        <p:nvSpPr>
          <p:cNvPr id="3" name="Rectangle 2">
            <a:extLst>
              <a:ext uri="{FF2B5EF4-FFF2-40B4-BE49-F238E27FC236}">
                <a16:creationId xmlns:a16="http://schemas.microsoft.com/office/drawing/2014/main" id="{996F3A8A-A5ED-A5B4-2D4A-D94C7E145DA6}"/>
              </a:ext>
            </a:extLst>
          </p:cNvPr>
          <p:cNvSpPr/>
          <p:nvPr/>
        </p:nvSpPr>
        <p:spPr>
          <a:xfrm>
            <a:off x="9822426" y="3429000"/>
            <a:ext cx="1622322" cy="444910"/>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Tree>
    <p:extLst>
      <p:ext uri="{BB962C8B-B14F-4D97-AF65-F5344CB8AC3E}">
        <p14:creationId xmlns:p14="http://schemas.microsoft.com/office/powerpoint/2010/main" val="4095194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8DD34D3-93D5-D380-6A77-FB050904BB45}"/>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4C95F37D-2FFE-5670-B3D9-3FE532FDE604}"/>
              </a:ext>
            </a:extLst>
          </p:cNvPr>
          <p:cNvSpPr txBox="1"/>
          <p:nvPr/>
        </p:nvSpPr>
        <p:spPr>
          <a:xfrm>
            <a:off x="373626" y="963561"/>
            <a:ext cx="7629832" cy="461665"/>
          </a:xfrm>
          <a:prstGeom prst="rect">
            <a:avLst/>
          </a:prstGeom>
          <a:noFill/>
        </p:spPr>
        <p:txBody>
          <a:bodyPr wrap="square" rtlCol="0">
            <a:spAutoFit/>
          </a:bodyPr>
          <a:lstStyle/>
          <a:p>
            <a:r>
              <a:rPr lang="en-US" sz="2400" dirty="0"/>
              <a:t>5</a:t>
            </a:r>
            <a:r>
              <a:rPr lang="en-US" sz="2400" dirty="0">
                <a:latin typeface="Baskerville Old Face" panose="02020602080505020303" pitchFamily="18" charset="0"/>
              </a:rPr>
              <a:t>. </a:t>
            </a:r>
            <a:r>
              <a:rPr lang="en-US" sz="2400" b="1" dirty="0">
                <a:latin typeface="Baskerville Old Face" panose="02020602080505020303" pitchFamily="18" charset="0"/>
              </a:rPr>
              <a:t>Enter Basic Details like Name and description.</a:t>
            </a:r>
            <a:endParaRPr lang="en-IN" sz="2400" b="1" dirty="0">
              <a:latin typeface="Baskerville Old Face" panose="02020602080505020303" pitchFamily="18" charset="0"/>
            </a:endParaRPr>
          </a:p>
        </p:txBody>
      </p:sp>
      <p:pic>
        <p:nvPicPr>
          <p:cNvPr id="8" name="Picture 7">
            <a:extLst>
              <a:ext uri="{FF2B5EF4-FFF2-40B4-BE49-F238E27FC236}">
                <a16:creationId xmlns:a16="http://schemas.microsoft.com/office/drawing/2014/main" id="{98A3BD58-22D7-98A9-4BBD-49990D656A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75" y="2034825"/>
            <a:ext cx="10752752" cy="2596168"/>
          </a:xfrm>
          <a:prstGeom prst="rect">
            <a:avLst/>
          </a:prstGeom>
        </p:spPr>
      </p:pic>
      <p:sp>
        <p:nvSpPr>
          <p:cNvPr id="2" name="TextBox 1">
            <a:extLst>
              <a:ext uri="{FF2B5EF4-FFF2-40B4-BE49-F238E27FC236}">
                <a16:creationId xmlns:a16="http://schemas.microsoft.com/office/drawing/2014/main" id="{EFEECCD3-ADDA-7135-8590-ECCB76241848}"/>
              </a:ext>
            </a:extLst>
          </p:cNvPr>
          <p:cNvSpPr txBox="1"/>
          <p:nvPr/>
        </p:nvSpPr>
        <p:spPr>
          <a:xfrm>
            <a:off x="511278" y="6302477"/>
            <a:ext cx="11680722"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ELB PROJECT </a:t>
            </a:r>
            <a:r>
              <a:rPr lang="en-US" sz="1600" dirty="0">
                <a:latin typeface="Cambria Math" panose="02040503050406030204" pitchFamily="18" charset="0"/>
                <a:ea typeface="Cambria Math" panose="02040503050406030204" pitchFamily="18" charset="0"/>
              </a:rPr>
              <a:t>DOCUMENTATION</a:t>
            </a:r>
            <a:r>
              <a:rPr lang="en-US" dirty="0">
                <a:latin typeface="Cambria Math" panose="02040503050406030204" pitchFamily="18" charset="0"/>
                <a:ea typeface="Cambria Math" panose="02040503050406030204" pitchFamily="18" charset="0"/>
              </a:rPr>
              <a:t>  													BY MOHIT GADILOHAR</a:t>
            </a:r>
            <a:endParaRPr lang="en-IN"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312510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9300B52-9DCA-05AF-8994-D144392B1EC4}"/>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960A8F8E-CBEC-206B-1ED1-8F09E0218FEE}"/>
              </a:ext>
            </a:extLst>
          </p:cNvPr>
          <p:cNvSpPr txBox="1"/>
          <p:nvPr/>
        </p:nvSpPr>
        <p:spPr>
          <a:xfrm>
            <a:off x="285135" y="226142"/>
            <a:ext cx="5997678" cy="461665"/>
          </a:xfrm>
          <a:prstGeom prst="rect">
            <a:avLst/>
          </a:prstGeom>
          <a:noFill/>
        </p:spPr>
        <p:txBody>
          <a:bodyPr wrap="square" rtlCol="0">
            <a:spAutoFit/>
          </a:bodyPr>
          <a:lstStyle/>
          <a:p>
            <a:r>
              <a:rPr lang="en-US" sz="2400" b="1" dirty="0">
                <a:latin typeface="Baskerville Old Face" panose="02020602080505020303" pitchFamily="18" charset="0"/>
              </a:rPr>
              <a:t>6. In Inbound Rules , add the following rules:</a:t>
            </a:r>
            <a:endParaRPr lang="en-IN" sz="2400" b="1" dirty="0">
              <a:latin typeface="Baskerville Old Face" panose="02020602080505020303" pitchFamily="18" charset="0"/>
            </a:endParaRPr>
          </a:p>
        </p:txBody>
      </p:sp>
      <p:sp>
        <p:nvSpPr>
          <p:cNvPr id="7" name="TextBox 6">
            <a:extLst>
              <a:ext uri="{FF2B5EF4-FFF2-40B4-BE49-F238E27FC236}">
                <a16:creationId xmlns:a16="http://schemas.microsoft.com/office/drawing/2014/main" id="{2C38F5DB-E9B8-400A-07D9-FB782694AEFB}"/>
              </a:ext>
            </a:extLst>
          </p:cNvPr>
          <p:cNvSpPr txBox="1"/>
          <p:nvPr/>
        </p:nvSpPr>
        <p:spPr>
          <a:xfrm>
            <a:off x="865238" y="687807"/>
            <a:ext cx="3903407" cy="2031325"/>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SSH (Port 22)</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HTTP (Port 80)</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HTTPS (Port 443)</a:t>
            </a:r>
          </a:p>
          <a:p>
            <a:endParaRPr lang="en-US" dirty="0">
              <a:latin typeface="Cambria Math" panose="02040503050406030204" pitchFamily="18" charset="0"/>
              <a:ea typeface="Cambria Math" panose="02040503050406030204" pitchFamily="18" charset="0"/>
            </a:endParaRPr>
          </a:p>
          <a:p>
            <a:r>
              <a:rPr lang="en-US" dirty="0">
                <a:latin typeface="Cambria Math" panose="02040503050406030204" pitchFamily="18" charset="0"/>
                <a:ea typeface="Cambria Math" panose="02040503050406030204" pitchFamily="18" charset="0"/>
              </a:rPr>
              <a:t>Select Anywhere IPv4 as the source</a:t>
            </a:r>
            <a:r>
              <a:rPr lang="en-US" dirty="0"/>
              <a:t>.</a:t>
            </a:r>
            <a:endParaRPr lang="en-IN" dirty="0"/>
          </a:p>
        </p:txBody>
      </p:sp>
      <p:pic>
        <p:nvPicPr>
          <p:cNvPr id="9" name="Picture 8">
            <a:extLst>
              <a:ext uri="{FF2B5EF4-FFF2-40B4-BE49-F238E27FC236}">
                <a16:creationId xmlns:a16="http://schemas.microsoft.com/office/drawing/2014/main" id="{0852B891-0BC4-AD21-6F6E-6DA2CB2EA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58" y="2979174"/>
            <a:ext cx="10972800" cy="2772698"/>
          </a:xfrm>
          <a:prstGeom prst="rect">
            <a:avLst/>
          </a:prstGeom>
        </p:spPr>
      </p:pic>
      <p:sp>
        <p:nvSpPr>
          <p:cNvPr id="2" name="TextBox 1">
            <a:extLst>
              <a:ext uri="{FF2B5EF4-FFF2-40B4-BE49-F238E27FC236}">
                <a16:creationId xmlns:a16="http://schemas.microsoft.com/office/drawing/2014/main" id="{B391DBDE-F18F-413F-090C-9777068CA61D}"/>
              </a:ext>
            </a:extLst>
          </p:cNvPr>
          <p:cNvSpPr txBox="1"/>
          <p:nvPr/>
        </p:nvSpPr>
        <p:spPr>
          <a:xfrm>
            <a:off x="609599" y="6293304"/>
            <a:ext cx="11661059"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28577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A9F0777-239E-303F-0EA1-FB24EB70E9C3}"/>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5B878976-1CFF-C352-DD03-3F1C01254850}"/>
              </a:ext>
            </a:extLst>
          </p:cNvPr>
          <p:cNvSpPr txBox="1"/>
          <p:nvPr/>
        </p:nvSpPr>
        <p:spPr>
          <a:xfrm>
            <a:off x="334297" y="206477"/>
            <a:ext cx="8455742" cy="461665"/>
          </a:xfrm>
          <a:prstGeom prst="rect">
            <a:avLst/>
          </a:prstGeom>
          <a:noFill/>
        </p:spPr>
        <p:txBody>
          <a:bodyPr wrap="square" rtlCol="0">
            <a:spAutoFit/>
          </a:bodyPr>
          <a:lstStyle/>
          <a:p>
            <a:r>
              <a:rPr lang="en-US" sz="2400" dirty="0">
                <a:latin typeface="Baskerville Old Face" panose="02020602080505020303" pitchFamily="18" charset="0"/>
              </a:rPr>
              <a:t>7. Scroll Down and click on Create Security Group</a:t>
            </a:r>
            <a:endParaRPr lang="en-IN" sz="2400" dirty="0">
              <a:latin typeface="Baskerville Old Face" panose="02020602080505020303" pitchFamily="18" charset="0"/>
            </a:endParaRPr>
          </a:p>
        </p:txBody>
      </p:sp>
      <p:pic>
        <p:nvPicPr>
          <p:cNvPr id="8" name="Picture 7">
            <a:extLst>
              <a:ext uri="{FF2B5EF4-FFF2-40B4-BE49-F238E27FC236}">
                <a16:creationId xmlns:a16="http://schemas.microsoft.com/office/drawing/2014/main" id="{C26F75BD-0FC6-579E-B4A9-67A1F14951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606" y="934065"/>
            <a:ext cx="10894142" cy="2674374"/>
          </a:xfrm>
          <a:prstGeom prst="rect">
            <a:avLst/>
          </a:prstGeom>
        </p:spPr>
      </p:pic>
      <p:pic>
        <p:nvPicPr>
          <p:cNvPr id="10" name="Picture 9">
            <a:extLst>
              <a:ext uri="{FF2B5EF4-FFF2-40B4-BE49-F238E27FC236}">
                <a16:creationId xmlns:a16="http://schemas.microsoft.com/office/drawing/2014/main" id="{5A21AB50-255E-DA2E-EC4F-D8631ECA7E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607" y="4129547"/>
            <a:ext cx="10894142" cy="1140543"/>
          </a:xfrm>
          <a:prstGeom prst="rect">
            <a:avLst/>
          </a:prstGeom>
        </p:spPr>
      </p:pic>
      <p:sp>
        <p:nvSpPr>
          <p:cNvPr id="11" name="Rectangle 10">
            <a:extLst>
              <a:ext uri="{FF2B5EF4-FFF2-40B4-BE49-F238E27FC236}">
                <a16:creationId xmlns:a16="http://schemas.microsoft.com/office/drawing/2014/main" id="{0B8EA1A1-3B10-9005-F67B-E877D8A70725}"/>
              </a:ext>
            </a:extLst>
          </p:cNvPr>
          <p:cNvSpPr/>
          <p:nvPr/>
        </p:nvSpPr>
        <p:spPr>
          <a:xfrm>
            <a:off x="9960077" y="3038168"/>
            <a:ext cx="1484671" cy="501445"/>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61259B94-09CE-3E55-6F59-A02A3BF753EA}"/>
              </a:ext>
            </a:extLst>
          </p:cNvPr>
          <p:cNvSpPr txBox="1"/>
          <p:nvPr/>
        </p:nvSpPr>
        <p:spPr>
          <a:xfrm>
            <a:off x="550606" y="6312969"/>
            <a:ext cx="11808542"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06407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CA13A-DFBA-A2C9-AB50-B7E2C1A1AF43}"/>
              </a:ext>
            </a:extLst>
          </p:cNvPr>
          <p:cNvSpPr>
            <a:spLocks noGrp="1"/>
          </p:cNvSpPr>
          <p:nvPr>
            <p:ph type="title"/>
          </p:nvPr>
        </p:nvSpPr>
        <p:spPr>
          <a:xfrm>
            <a:off x="287594" y="-205146"/>
            <a:ext cx="10515600" cy="1325563"/>
          </a:xfrm>
        </p:spPr>
        <p:txBody>
          <a:bodyPr>
            <a:normAutofit/>
          </a:bodyPr>
          <a:lstStyle/>
          <a:p>
            <a:r>
              <a:rPr lang="en-US" sz="2400" b="1" dirty="0">
                <a:latin typeface="Baskerville Old Face" panose="02020602080505020303" pitchFamily="18" charset="0"/>
              </a:rPr>
              <a:t>Launch EC2 Instances💻</a:t>
            </a:r>
            <a:endParaRPr lang="en-IN" sz="2400" b="1" dirty="0">
              <a:latin typeface="Baskerville Old Face" panose="02020602080505020303" pitchFamily="18" charset="0"/>
            </a:endParaRPr>
          </a:p>
        </p:txBody>
      </p:sp>
      <p:sp>
        <p:nvSpPr>
          <p:cNvPr id="5" name="Rectangle 4">
            <a:extLst>
              <a:ext uri="{FF2B5EF4-FFF2-40B4-BE49-F238E27FC236}">
                <a16:creationId xmlns:a16="http://schemas.microsoft.com/office/drawing/2014/main" id="{F6F37D66-0AC7-0630-ACF6-67AE6672C019}"/>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A552CC76-7E9E-134D-71A4-7A61F32D889F}"/>
              </a:ext>
            </a:extLst>
          </p:cNvPr>
          <p:cNvSpPr txBox="1"/>
          <p:nvPr/>
        </p:nvSpPr>
        <p:spPr>
          <a:xfrm>
            <a:off x="560439" y="658762"/>
            <a:ext cx="4159045" cy="369332"/>
          </a:xfrm>
          <a:prstGeom prst="rect">
            <a:avLst/>
          </a:prstGeom>
          <a:noFill/>
        </p:spPr>
        <p:txBody>
          <a:bodyPr wrap="square" rtlCol="0">
            <a:spAutoFit/>
          </a:bodyPr>
          <a:lstStyle/>
          <a:p>
            <a:r>
              <a:rPr lang="en-US" dirty="0">
                <a:latin typeface="Cambria Math" panose="02040503050406030204" pitchFamily="18" charset="0"/>
                <a:ea typeface="Cambria Math" panose="02040503050406030204" pitchFamily="18" charset="0"/>
              </a:rPr>
              <a:t>8.  Go to the </a:t>
            </a:r>
            <a:r>
              <a:rPr lang="en-US" b="1" dirty="0">
                <a:latin typeface="Cambria Math" panose="02040503050406030204" pitchFamily="18" charset="0"/>
                <a:ea typeface="Cambria Math" panose="02040503050406030204" pitchFamily="18" charset="0"/>
              </a:rPr>
              <a:t>EC2 Instances Dashboard</a:t>
            </a:r>
            <a:endParaRPr lang="en-IN" b="1" dirty="0">
              <a:latin typeface="Cambria Math" panose="02040503050406030204" pitchFamily="18" charset="0"/>
              <a:ea typeface="Cambria Math" panose="02040503050406030204" pitchFamily="18" charset="0"/>
            </a:endParaRPr>
          </a:p>
        </p:txBody>
      </p:sp>
      <p:pic>
        <p:nvPicPr>
          <p:cNvPr id="7" name="Picture 6">
            <a:extLst>
              <a:ext uri="{FF2B5EF4-FFF2-40B4-BE49-F238E27FC236}">
                <a16:creationId xmlns:a16="http://schemas.microsoft.com/office/drawing/2014/main" id="{6FF68F89-4EF7-4FC5-81B5-6BB23E51E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2116" y="1219200"/>
            <a:ext cx="11021961" cy="3932903"/>
          </a:xfrm>
          <a:prstGeom prst="rect">
            <a:avLst/>
          </a:prstGeom>
        </p:spPr>
      </p:pic>
      <p:sp>
        <p:nvSpPr>
          <p:cNvPr id="3" name="TextBox 2">
            <a:extLst>
              <a:ext uri="{FF2B5EF4-FFF2-40B4-BE49-F238E27FC236}">
                <a16:creationId xmlns:a16="http://schemas.microsoft.com/office/drawing/2014/main" id="{1047E102-2B55-3467-2066-7CD4A6306386}"/>
              </a:ext>
            </a:extLst>
          </p:cNvPr>
          <p:cNvSpPr txBox="1"/>
          <p:nvPr/>
        </p:nvSpPr>
        <p:spPr>
          <a:xfrm>
            <a:off x="462116" y="6283260"/>
            <a:ext cx="11678264"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322225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079D517-1929-6181-711B-743DE47785F1}"/>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2073B421-386E-FAF6-8F0D-A07919EDCB4B}"/>
              </a:ext>
            </a:extLst>
          </p:cNvPr>
          <p:cNvSpPr txBox="1"/>
          <p:nvPr/>
        </p:nvSpPr>
        <p:spPr>
          <a:xfrm>
            <a:off x="235974" y="206477"/>
            <a:ext cx="3795251" cy="461665"/>
          </a:xfrm>
          <a:prstGeom prst="rect">
            <a:avLst/>
          </a:prstGeom>
          <a:noFill/>
        </p:spPr>
        <p:txBody>
          <a:bodyPr wrap="square" rtlCol="0">
            <a:spAutoFit/>
          </a:bodyPr>
          <a:lstStyle/>
          <a:p>
            <a:r>
              <a:rPr lang="en-US" sz="2400" b="1" dirty="0">
                <a:latin typeface="Baskerville Old Face" panose="02020602080505020303" pitchFamily="18" charset="0"/>
              </a:rPr>
              <a:t>9. Click on Launch Instance</a:t>
            </a:r>
            <a:endParaRPr lang="en-IN" sz="2400" b="1" dirty="0">
              <a:latin typeface="Baskerville Old Face" panose="02020602080505020303" pitchFamily="18" charset="0"/>
            </a:endParaRPr>
          </a:p>
        </p:txBody>
      </p:sp>
      <p:pic>
        <p:nvPicPr>
          <p:cNvPr id="7" name="Picture 6">
            <a:extLst>
              <a:ext uri="{FF2B5EF4-FFF2-40B4-BE49-F238E27FC236}">
                <a16:creationId xmlns:a16="http://schemas.microsoft.com/office/drawing/2014/main" id="{B69E95E6-263E-100A-3034-5078EB6CD3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365" y="766464"/>
            <a:ext cx="3903300" cy="1067086"/>
          </a:xfrm>
          <a:prstGeom prst="rect">
            <a:avLst/>
          </a:prstGeom>
        </p:spPr>
      </p:pic>
      <p:sp>
        <p:nvSpPr>
          <p:cNvPr id="8" name="TextBox 7">
            <a:extLst>
              <a:ext uri="{FF2B5EF4-FFF2-40B4-BE49-F238E27FC236}">
                <a16:creationId xmlns:a16="http://schemas.microsoft.com/office/drawing/2014/main" id="{B7DE8B1A-0413-6DBD-4814-C9A71BD7CAC7}"/>
              </a:ext>
            </a:extLst>
          </p:cNvPr>
          <p:cNvSpPr txBox="1"/>
          <p:nvPr/>
        </p:nvSpPr>
        <p:spPr>
          <a:xfrm>
            <a:off x="235973" y="2074606"/>
            <a:ext cx="11012130" cy="830997"/>
          </a:xfrm>
          <a:prstGeom prst="rect">
            <a:avLst/>
          </a:prstGeom>
          <a:noFill/>
        </p:spPr>
        <p:txBody>
          <a:bodyPr wrap="square" rtlCol="0">
            <a:spAutoFit/>
          </a:bodyPr>
          <a:lstStyle/>
          <a:p>
            <a:r>
              <a:rPr lang="en-US" sz="2400" dirty="0">
                <a:latin typeface="Baskerville Old Face" panose="02020602080505020303" pitchFamily="18" charset="0"/>
                <a:ea typeface="Cambria Math" panose="02040503050406030204" pitchFamily="18" charset="0"/>
              </a:rPr>
              <a:t>10. Provide a name, Select </a:t>
            </a:r>
            <a:r>
              <a:rPr lang="en-US" sz="2400" b="1" dirty="0">
                <a:latin typeface="Baskerville Old Face" panose="02020602080505020303" pitchFamily="18" charset="0"/>
                <a:ea typeface="Cambria Math" panose="02040503050406030204" pitchFamily="18" charset="0"/>
              </a:rPr>
              <a:t>AMI</a:t>
            </a:r>
            <a:r>
              <a:rPr lang="en-US" sz="2400" dirty="0">
                <a:latin typeface="Baskerville Old Face" panose="02020602080505020303" pitchFamily="18" charset="0"/>
                <a:ea typeface="Cambria Math" panose="02040503050406030204" pitchFamily="18" charset="0"/>
              </a:rPr>
              <a:t> as </a:t>
            </a:r>
            <a:r>
              <a:rPr lang="en-US" sz="2400" b="1" dirty="0">
                <a:latin typeface="Baskerville Old Face" panose="02020602080505020303" pitchFamily="18" charset="0"/>
                <a:ea typeface="Cambria Math" panose="02040503050406030204" pitchFamily="18" charset="0"/>
              </a:rPr>
              <a:t>Amazon Linux</a:t>
            </a:r>
            <a:r>
              <a:rPr lang="en-US" sz="2400" dirty="0">
                <a:latin typeface="Baskerville Old Face" panose="02020602080505020303" pitchFamily="18" charset="0"/>
                <a:ea typeface="Cambria Math" panose="02040503050406030204" pitchFamily="18" charset="0"/>
              </a:rPr>
              <a:t>, and choose </a:t>
            </a:r>
            <a:r>
              <a:rPr lang="en-US" sz="2400" b="1" dirty="0">
                <a:latin typeface="Baskerville Old Face" panose="02020602080505020303" pitchFamily="18" charset="0"/>
                <a:ea typeface="Cambria Math" panose="02040503050406030204" pitchFamily="18" charset="0"/>
              </a:rPr>
              <a:t>t2.micro </a:t>
            </a:r>
            <a:r>
              <a:rPr lang="en-US" sz="2400" dirty="0">
                <a:latin typeface="Baskerville Old Face" panose="02020602080505020303" pitchFamily="18" charset="0"/>
                <a:ea typeface="Cambria Math" panose="02040503050406030204" pitchFamily="18" charset="0"/>
              </a:rPr>
              <a:t>or </a:t>
            </a:r>
            <a:r>
              <a:rPr lang="en-US" sz="2400" b="1" dirty="0">
                <a:latin typeface="Baskerville Old Face" panose="02020602080505020303" pitchFamily="18" charset="0"/>
                <a:ea typeface="Cambria Math" panose="02040503050406030204" pitchFamily="18" charset="0"/>
              </a:rPr>
              <a:t>t3.micro </a:t>
            </a:r>
            <a:r>
              <a:rPr lang="en-US" sz="2400" dirty="0">
                <a:latin typeface="Baskerville Old Face" panose="02020602080505020303" pitchFamily="18" charset="0"/>
                <a:ea typeface="Cambria Math" panose="02040503050406030204" pitchFamily="18" charset="0"/>
              </a:rPr>
              <a:t>(whichever is free-tier eligible).</a:t>
            </a:r>
            <a:endParaRPr lang="en-IN" sz="2400" dirty="0">
              <a:latin typeface="Baskerville Old Face" panose="02020602080505020303" pitchFamily="18" charset="0"/>
              <a:ea typeface="Cambria Math" panose="02040503050406030204" pitchFamily="18" charset="0"/>
            </a:endParaRPr>
          </a:p>
        </p:txBody>
      </p:sp>
      <p:pic>
        <p:nvPicPr>
          <p:cNvPr id="10" name="Picture 9">
            <a:extLst>
              <a:ext uri="{FF2B5EF4-FFF2-40B4-BE49-F238E27FC236}">
                <a16:creationId xmlns:a16="http://schemas.microsoft.com/office/drawing/2014/main" id="{58650AEE-5F24-80AD-F3D9-8BA827BA7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366" y="3146658"/>
            <a:ext cx="9920640" cy="2172593"/>
          </a:xfrm>
          <a:prstGeom prst="rect">
            <a:avLst/>
          </a:prstGeom>
        </p:spPr>
      </p:pic>
      <p:sp>
        <p:nvSpPr>
          <p:cNvPr id="2" name="TextBox 1">
            <a:extLst>
              <a:ext uri="{FF2B5EF4-FFF2-40B4-BE49-F238E27FC236}">
                <a16:creationId xmlns:a16="http://schemas.microsoft.com/office/drawing/2014/main" id="{92245715-EA09-E669-D005-4DF00BE78A58}"/>
              </a:ext>
            </a:extLst>
          </p:cNvPr>
          <p:cNvSpPr txBox="1"/>
          <p:nvPr/>
        </p:nvSpPr>
        <p:spPr>
          <a:xfrm>
            <a:off x="540773" y="6312969"/>
            <a:ext cx="11651227"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8595581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EE71CC-8F3A-B5CE-C5C9-7461D875F300}"/>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6" name="Picture 5">
            <a:extLst>
              <a:ext uri="{FF2B5EF4-FFF2-40B4-BE49-F238E27FC236}">
                <a16:creationId xmlns:a16="http://schemas.microsoft.com/office/drawing/2014/main" id="{A9649222-F44D-EA9C-B848-47B9048347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193" y="565656"/>
            <a:ext cx="10052775" cy="4635609"/>
          </a:xfrm>
          <a:prstGeom prst="rect">
            <a:avLst/>
          </a:prstGeom>
        </p:spPr>
      </p:pic>
      <p:sp>
        <p:nvSpPr>
          <p:cNvPr id="2" name="TextBox 1">
            <a:extLst>
              <a:ext uri="{FF2B5EF4-FFF2-40B4-BE49-F238E27FC236}">
                <a16:creationId xmlns:a16="http://schemas.microsoft.com/office/drawing/2014/main" id="{27A29DE9-FEE6-1DD0-F09A-16773F980F81}"/>
              </a:ext>
            </a:extLst>
          </p:cNvPr>
          <p:cNvSpPr txBox="1"/>
          <p:nvPr/>
        </p:nvSpPr>
        <p:spPr>
          <a:xfrm>
            <a:off x="462116" y="6292344"/>
            <a:ext cx="11621729"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79216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BF1634D-AEF5-DD7A-0950-4B53487780E8}"/>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6" name="Picture 5">
            <a:extLst>
              <a:ext uri="{FF2B5EF4-FFF2-40B4-BE49-F238E27FC236}">
                <a16:creationId xmlns:a16="http://schemas.microsoft.com/office/drawing/2014/main" id="{DC8D0C94-68B2-068D-75ED-691E58DCCA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642" y="421955"/>
            <a:ext cx="9743552" cy="2291748"/>
          </a:xfrm>
          <a:prstGeom prst="rect">
            <a:avLst/>
          </a:prstGeom>
        </p:spPr>
      </p:pic>
      <p:sp>
        <p:nvSpPr>
          <p:cNvPr id="7" name="TextBox 6">
            <a:extLst>
              <a:ext uri="{FF2B5EF4-FFF2-40B4-BE49-F238E27FC236}">
                <a16:creationId xmlns:a16="http://schemas.microsoft.com/office/drawing/2014/main" id="{C82E44F7-0C43-1503-4371-20592C04ABA8}"/>
              </a:ext>
            </a:extLst>
          </p:cNvPr>
          <p:cNvSpPr txBox="1"/>
          <p:nvPr/>
        </p:nvSpPr>
        <p:spPr>
          <a:xfrm>
            <a:off x="432619" y="2952587"/>
            <a:ext cx="7334865" cy="461665"/>
          </a:xfrm>
          <a:prstGeom prst="rect">
            <a:avLst/>
          </a:prstGeom>
          <a:noFill/>
        </p:spPr>
        <p:txBody>
          <a:bodyPr wrap="square" rtlCol="0">
            <a:spAutoFit/>
          </a:bodyPr>
          <a:lstStyle/>
          <a:p>
            <a:r>
              <a:rPr lang="en-US" sz="2400" dirty="0">
                <a:latin typeface="Baskerville Old Face" panose="02020602080505020303" pitchFamily="18" charset="0"/>
              </a:rPr>
              <a:t>11. Proceed </a:t>
            </a:r>
            <a:r>
              <a:rPr lang="en-US" sz="2400" b="1" dirty="0">
                <a:latin typeface="Baskerville Old Face" panose="02020602080505020303" pitchFamily="18" charset="0"/>
              </a:rPr>
              <a:t>Without</a:t>
            </a:r>
            <a:r>
              <a:rPr lang="en-US" sz="2400" dirty="0">
                <a:latin typeface="Baskerville Old Face" panose="02020602080505020303" pitchFamily="18" charset="0"/>
              </a:rPr>
              <a:t> a key pair:</a:t>
            </a:r>
            <a:endParaRPr lang="en-IN" sz="2400" dirty="0">
              <a:latin typeface="Baskerville Old Face" panose="02020602080505020303" pitchFamily="18" charset="0"/>
            </a:endParaRPr>
          </a:p>
        </p:txBody>
      </p:sp>
      <p:pic>
        <p:nvPicPr>
          <p:cNvPr id="9" name="Picture 8">
            <a:extLst>
              <a:ext uri="{FF2B5EF4-FFF2-40B4-BE49-F238E27FC236}">
                <a16:creationId xmlns:a16="http://schemas.microsoft.com/office/drawing/2014/main" id="{233E68E4-241F-4386-7FA4-02614BE2CC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642" y="3605544"/>
            <a:ext cx="9743552" cy="1812030"/>
          </a:xfrm>
          <a:prstGeom prst="rect">
            <a:avLst/>
          </a:prstGeom>
        </p:spPr>
      </p:pic>
      <p:sp>
        <p:nvSpPr>
          <p:cNvPr id="2" name="TextBox 1">
            <a:extLst>
              <a:ext uri="{FF2B5EF4-FFF2-40B4-BE49-F238E27FC236}">
                <a16:creationId xmlns:a16="http://schemas.microsoft.com/office/drawing/2014/main" id="{D0EAFF74-AD0D-7F14-8AA0-153E46CEBC4A}"/>
              </a:ext>
            </a:extLst>
          </p:cNvPr>
          <p:cNvSpPr txBox="1"/>
          <p:nvPr/>
        </p:nvSpPr>
        <p:spPr>
          <a:xfrm>
            <a:off x="521110" y="6332744"/>
            <a:ext cx="11670890"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42650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4BBB51-EB72-2F97-3452-A3C9769A6F3F}"/>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E59A724B-2362-3729-4765-C069D37E3D94}"/>
              </a:ext>
            </a:extLst>
          </p:cNvPr>
          <p:cNvSpPr txBox="1"/>
          <p:nvPr/>
        </p:nvSpPr>
        <p:spPr>
          <a:xfrm>
            <a:off x="255638" y="186813"/>
            <a:ext cx="9340646" cy="461665"/>
          </a:xfrm>
          <a:prstGeom prst="rect">
            <a:avLst/>
          </a:prstGeom>
          <a:noFill/>
        </p:spPr>
        <p:txBody>
          <a:bodyPr wrap="square" rtlCol="0">
            <a:spAutoFit/>
          </a:bodyPr>
          <a:lstStyle/>
          <a:p>
            <a:r>
              <a:rPr lang="en-US" sz="2400" dirty="0">
                <a:latin typeface="Baskerville Old Face" panose="02020602080505020303" pitchFamily="18" charset="0"/>
              </a:rPr>
              <a:t>12. In </a:t>
            </a:r>
            <a:r>
              <a:rPr lang="en-US" sz="2400" b="1" dirty="0">
                <a:latin typeface="Baskerville Old Face" panose="02020602080505020303" pitchFamily="18" charset="0"/>
              </a:rPr>
              <a:t>Networking Setting </a:t>
            </a:r>
            <a:r>
              <a:rPr lang="en-US" sz="2400" dirty="0">
                <a:latin typeface="Baskerville Old Face" panose="02020602080505020303" pitchFamily="18" charset="0"/>
              </a:rPr>
              <a:t>, Select the </a:t>
            </a:r>
            <a:r>
              <a:rPr lang="en-US" sz="2400" b="1" dirty="0">
                <a:latin typeface="Baskerville Old Face" panose="02020602080505020303" pitchFamily="18" charset="0"/>
              </a:rPr>
              <a:t>Create security group </a:t>
            </a:r>
            <a:r>
              <a:rPr lang="en-US" sz="2400" dirty="0">
                <a:latin typeface="Baskerville Old Face" panose="02020602080505020303" pitchFamily="18" charset="0"/>
              </a:rPr>
              <a:t>create a earlier.</a:t>
            </a:r>
            <a:endParaRPr lang="en-IN" sz="2400" dirty="0">
              <a:latin typeface="Baskerville Old Face" panose="02020602080505020303" pitchFamily="18" charset="0"/>
            </a:endParaRPr>
          </a:p>
        </p:txBody>
      </p:sp>
      <p:pic>
        <p:nvPicPr>
          <p:cNvPr id="8" name="Picture 7">
            <a:extLst>
              <a:ext uri="{FF2B5EF4-FFF2-40B4-BE49-F238E27FC236}">
                <a16:creationId xmlns:a16="http://schemas.microsoft.com/office/drawing/2014/main" id="{8FAEBE6F-23FE-F680-9C78-1EAE2B45F1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180" y="811197"/>
            <a:ext cx="9629988" cy="4537552"/>
          </a:xfrm>
          <a:prstGeom prst="rect">
            <a:avLst/>
          </a:prstGeom>
        </p:spPr>
      </p:pic>
      <p:sp>
        <p:nvSpPr>
          <p:cNvPr id="2" name="TextBox 1">
            <a:extLst>
              <a:ext uri="{FF2B5EF4-FFF2-40B4-BE49-F238E27FC236}">
                <a16:creationId xmlns:a16="http://schemas.microsoft.com/office/drawing/2014/main" id="{EE3E3503-A567-7E57-B6DE-BCF08BDBBFD3}"/>
              </a:ext>
            </a:extLst>
          </p:cNvPr>
          <p:cNvSpPr txBox="1"/>
          <p:nvPr/>
        </p:nvSpPr>
        <p:spPr>
          <a:xfrm>
            <a:off x="491612" y="6318458"/>
            <a:ext cx="11700388"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826942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DBD0A1B-C51B-5E65-CB06-8FB475043EDF}"/>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7" name="Picture 6">
            <a:extLst>
              <a:ext uri="{FF2B5EF4-FFF2-40B4-BE49-F238E27FC236}">
                <a16:creationId xmlns:a16="http://schemas.microsoft.com/office/drawing/2014/main" id="{B6F3CABD-5B0C-4A53-6DAB-2C92B0F3D0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254" y="868111"/>
            <a:ext cx="9344959" cy="4610500"/>
          </a:xfrm>
          <a:prstGeom prst="rect">
            <a:avLst/>
          </a:prstGeom>
        </p:spPr>
      </p:pic>
      <p:sp>
        <p:nvSpPr>
          <p:cNvPr id="8" name="TextBox 7">
            <a:extLst>
              <a:ext uri="{FF2B5EF4-FFF2-40B4-BE49-F238E27FC236}">
                <a16:creationId xmlns:a16="http://schemas.microsoft.com/office/drawing/2014/main" id="{2BCD7769-F2EB-FE57-F7D5-949355F663C5}"/>
              </a:ext>
            </a:extLst>
          </p:cNvPr>
          <p:cNvSpPr txBox="1"/>
          <p:nvPr/>
        </p:nvSpPr>
        <p:spPr>
          <a:xfrm>
            <a:off x="324465" y="196645"/>
            <a:ext cx="8573729" cy="461665"/>
          </a:xfrm>
          <a:prstGeom prst="rect">
            <a:avLst/>
          </a:prstGeom>
          <a:noFill/>
        </p:spPr>
        <p:txBody>
          <a:bodyPr wrap="square" rtlCol="0">
            <a:spAutoFit/>
          </a:bodyPr>
          <a:lstStyle/>
          <a:p>
            <a:r>
              <a:rPr lang="en-US" sz="2400" dirty="0">
                <a:latin typeface="Baskerville Old Face" panose="02020602080505020303" pitchFamily="18" charset="0"/>
              </a:rPr>
              <a:t>13. Scroll down to </a:t>
            </a:r>
            <a:r>
              <a:rPr lang="en-US" sz="2400" b="1" dirty="0">
                <a:latin typeface="Baskerville Old Face" panose="02020602080505020303" pitchFamily="18" charset="0"/>
              </a:rPr>
              <a:t>Advanced Details </a:t>
            </a:r>
            <a:r>
              <a:rPr lang="en-US" sz="2400" dirty="0">
                <a:latin typeface="Baskerville Old Face" panose="02020602080505020303" pitchFamily="18" charset="0"/>
              </a:rPr>
              <a:t>and add </a:t>
            </a:r>
            <a:r>
              <a:rPr lang="en-US" sz="2400" b="1" dirty="0">
                <a:latin typeface="Baskerville Old Face" panose="02020602080505020303" pitchFamily="18" charset="0"/>
              </a:rPr>
              <a:t>user Data.</a:t>
            </a:r>
            <a:endParaRPr lang="en-IN" sz="2400" b="1" dirty="0">
              <a:latin typeface="Baskerville Old Face" panose="02020602080505020303" pitchFamily="18" charset="0"/>
            </a:endParaRPr>
          </a:p>
        </p:txBody>
      </p:sp>
      <p:sp>
        <p:nvSpPr>
          <p:cNvPr id="2" name="TextBox 1">
            <a:extLst>
              <a:ext uri="{FF2B5EF4-FFF2-40B4-BE49-F238E27FC236}">
                <a16:creationId xmlns:a16="http://schemas.microsoft.com/office/drawing/2014/main" id="{8AAE9207-1205-2C2C-B46B-240B452C2992}"/>
              </a:ext>
            </a:extLst>
          </p:cNvPr>
          <p:cNvSpPr txBox="1"/>
          <p:nvPr/>
        </p:nvSpPr>
        <p:spPr>
          <a:xfrm>
            <a:off x="432620" y="6322801"/>
            <a:ext cx="11651225"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24516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08756F-7EDE-5C06-A639-A115ABC597F3}"/>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7" name="TextBox 6">
            <a:extLst>
              <a:ext uri="{FF2B5EF4-FFF2-40B4-BE49-F238E27FC236}">
                <a16:creationId xmlns:a16="http://schemas.microsoft.com/office/drawing/2014/main" id="{663DDDFE-9C08-C608-56E7-36410AE51D03}"/>
              </a:ext>
            </a:extLst>
          </p:cNvPr>
          <p:cNvSpPr txBox="1"/>
          <p:nvPr/>
        </p:nvSpPr>
        <p:spPr>
          <a:xfrm>
            <a:off x="216310" y="186812"/>
            <a:ext cx="11031793" cy="461665"/>
          </a:xfrm>
          <a:prstGeom prst="rect">
            <a:avLst/>
          </a:prstGeom>
          <a:noFill/>
        </p:spPr>
        <p:txBody>
          <a:bodyPr wrap="square" rtlCol="0">
            <a:spAutoFit/>
          </a:bodyPr>
          <a:lstStyle/>
          <a:p>
            <a:r>
              <a:rPr lang="en-US" sz="2400" dirty="0">
                <a:latin typeface="Baskerville Old Face" panose="02020602080505020303" pitchFamily="18" charset="0"/>
              </a:rPr>
              <a:t>14. Change the </a:t>
            </a:r>
            <a:r>
              <a:rPr lang="en-US" sz="2400" b="1" dirty="0">
                <a:latin typeface="Baskerville Old Face" panose="02020602080505020303" pitchFamily="18" charset="0"/>
              </a:rPr>
              <a:t>number of instances </a:t>
            </a:r>
            <a:r>
              <a:rPr lang="en-US" sz="2400" dirty="0">
                <a:latin typeface="Baskerville Old Face" panose="02020602080505020303" pitchFamily="18" charset="0"/>
              </a:rPr>
              <a:t>from 1 to 3 in the </a:t>
            </a:r>
            <a:r>
              <a:rPr lang="en-US" sz="2400" b="1" dirty="0">
                <a:latin typeface="Baskerville Old Face" panose="02020602080505020303" pitchFamily="18" charset="0"/>
              </a:rPr>
              <a:t>summary</a:t>
            </a:r>
            <a:r>
              <a:rPr lang="en-US" sz="2400" dirty="0">
                <a:latin typeface="Baskerville Old Face" panose="02020602080505020303" pitchFamily="18" charset="0"/>
              </a:rPr>
              <a:t> section.</a:t>
            </a:r>
            <a:endParaRPr lang="en-IN" sz="2400" dirty="0">
              <a:latin typeface="Baskerville Old Face" panose="02020602080505020303" pitchFamily="18" charset="0"/>
            </a:endParaRPr>
          </a:p>
        </p:txBody>
      </p:sp>
      <p:pic>
        <p:nvPicPr>
          <p:cNvPr id="11" name="Picture 10">
            <a:extLst>
              <a:ext uri="{FF2B5EF4-FFF2-40B4-BE49-F238E27FC236}">
                <a16:creationId xmlns:a16="http://schemas.microsoft.com/office/drawing/2014/main" id="{C4C3644D-5380-499B-E9CC-35D12F7164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7912" y="797180"/>
            <a:ext cx="4760435" cy="4968671"/>
          </a:xfrm>
          <a:prstGeom prst="rect">
            <a:avLst/>
          </a:prstGeom>
        </p:spPr>
      </p:pic>
      <p:sp>
        <p:nvSpPr>
          <p:cNvPr id="13" name="Rectangle 12">
            <a:extLst>
              <a:ext uri="{FF2B5EF4-FFF2-40B4-BE49-F238E27FC236}">
                <a16:creationId xmlns:a16="http://schemas.microsoft.com/office/drawing/2014/main" id="{CA65FBAE-E5C8-5C85-911F-7B581163BFF9}"/>
              </a:ext>
            </a:extLst>
          </p:cNvPr>
          <p:cNvSpPr/>
          <p:nvPr/>
        </p:nvSpPr>
        <p:spPr>
          <a:xfrm>
            <a:off x="1258529" y="1248697"/>
            <a:ext cx="2123768" cy="688258"/>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3" name="TextBox 2">
            <a:extLst>
              <a:ext uri="{FF2B5EF4-FFF2-40B4-BE49-F238E27FC236}">
                <a16:creationId xmlns:a16="http://schemas.microsoft.com/office/drawing/2014/main" id="{3A7602ED-024E-8B08-F295-9297EE676E73}"/>
              </a:ext>
            </a:extLst>
          </p:cNvPr>
          <p:cNvSpPr txBox="1"/>
          <p:nvPr/>
        </p:nvSpPr>
        <p:spPr>
          <a:xfrm>
            <a:off x="521110" y="6311450"/>
            <a:ext cx="11670890"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622757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E59D2F-6FEB-976E-E6E9-B3DD67219788}"/>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8" name="TextBox 7">
            <a:extLst>
              <a:ext uri="{FF2B5EF4-FFF2-40B4-BE49-F238E27FC236}">
                <a16:creationId xmlns:a16="http://schemas.microsoft.com/office/drawing/2014/main" id="{382D4EA1-A683-A7FF-1E1A-C2FB7AC28760}"/>
              </a:ext>
            </a:extLst>
          </p:cNvPr>
          <p:cNvSpPr txBox="1"/>
          <p:nvPr/>
        </p:nvSpPr>
        <p:spPr>
          <a:xfrm>
            <a:off x="373626" y="196645"/>
            <a:ext cx="4827638" cy="461665"/>
          </a:xfrm>
          <a:prstGeom prst="rect">
            <a:avLst/>
          </a:prstGeom>
          <a:noFill/>
        </p:spPr>
        <p:txBody>
          <a:bodyPr wrap="square" rtlCol="0">
            <a:spAutoFit/>
          </a:bodyPr>
          <a:lstStyle/>
          <a:p>
            <a:r>
              <a:rPr lang="en-US" sz="2400" dirty="0">
                <a:latin typeface="Baskerville Old Face" panose="02020602080505020303" pitchFamily="18" charset="0"/>
              </a:rPr>
              <a:t>15. Click </a:t>
            </a:r>
            <a:r>
              <a:rPr lang="en-US" sz="2400" b="1" dirty="0">
                <a:latin typeface="Baskerville Old Face" panose="02020602080505020303" pitchFamily="18" charset="0"/>
              </a:rPr>
              <a:t>Launch Instance</a:t>
            </a:r>
            <a:endParaRPr lang="en-IN" sz="2400" b="1" dirty="0">
              <a:latin typeface="Baskerville Old Face" panose="02020602080505020303" pitchFamily="18" charset="0"/>
            </a:endParaRPr>
          </a:p>
        </p:txBody>
      </p:sp>
      <p:pic>
        <p:nvPicPr>
          <p:cNvPr id="10" name="Picture 9">
            <a:extLst>
              <a:ext uri="{FF2B5EF4-FFF2-40B4-BE49-F238E27FC236}">
                <a16:creationId xmlns:a16="http://schemas.microsoft.com/office/drawing/2014/main" id="{DDFFA116-5198-196A-B8AA-B7EBC4D969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374" y="746800"/>
            <a:ext cx="1921793" cy="1121329"/>
          </a:xfrm>
          <a:prstGeom prst="rect">
            <a:avLst/>
          </a:prstGeom>
        </p:spPr>
      </p:pic>
      <p:sp>
        <p:nvSpPr>
          <p:cNvPr id="11" name="TextBox 10">
            <a:extLst>
              <a:ext uri="{FF2B5EF4-FFF2-40B4-BE49-F238E27FC236}">
                <a16:creationId xmlns:a16="http://schemas.microsoft.com/office/drawing/2014/main" id="{DE95C664-6FE8-CBE1-D423-03ACF5552AAF}"/>
              </a:ext>
            </a:extLst>
          </p:cNvPr>
          <p:cNvSpPr txBox="1"/>
          <p:nvPr/>
        </p:nvSpPr>
        <p:spPr>
          <a:xfrm>
            <a:off x="373626" y="2133600"/>
            <a:ext cx="10333704" cy="830997"/>
          </a:xfrm>
          <a:prstGeom prst="rect">
            <a:avLst/>
          </a:prstGeom>
          <a:noFill/>
        </p:spPr>
        <p:txBody>
          <a:bodyPr wrap="square" rtlCol="0">
            <a:spAutoFit/>
          </a:bodyPr>
          <a:lstStyle/>
          <a:p>
            <a:r>
              <a:rPr lang="en-US" sz="2400" dirty="0">
                <a:latin typeface="Baskerville Old Face" panose="02020602080505020303" pitchFamily="18" charset="0"/>
              </a:rPr>
              <a:t>16. Navigate to the EC2 Instances Dashboard, wait for the 3/3 instance check to pass.</a:t>
            </a:r>
            <a:endParaRPr lang="en-IN" sz="2400" dirty="0">
              <a:latin typeface="Baskerville Old Face" panose="02020602080505020303" pitchFamily="18" charset="0"/>
            </a:endParaRPr>
          </a:p>
        </p:txBody>
      </p:sp>
      <p:pic>
        <p:nvPicPr>
          <p:cNvPr id="13" name="Picture 12">
            <a:extLst>
              <a:ext uri="{FF2B5EF4-FFF2-40B4-BE49-F238E27FC236}">
                <a16:creationId xmlns:a16="http://schemas.microsoft.com/office/drawing/2014/main" id="{2435AD59-B1FC-4DD2-D57B-34E5624597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626" y="3156155"/>
            <a:ext cx="11375922" cy="2355790"/>
          </a:xfrm>
          <a:prstGeom prst="rect">
            <a:avLst/>
          </a:prstGeom>
        </p:spPr>
      </p:pic>
      <p:sp>
        <p:nvSpPr>
          <p:cNvPr id="2" name="TextBox 1">
            <a:extLst>
              <a:ext uri="{FF2B5EF4-FFF2-40B4-BE49-F238E27FC236}">
                <a16:creationId xmlns:a16="http://schemas.microsoft.com/office/drawing/2014/main" id="{83EA81D1-9C15-6664-13F6-4D9B29675D04}"/>
              </a:ext>
            </a:extLst>
          </p:cNvPr>
          <p:cNvSpPr txBox="1"/>
          <p:nvPr/>
        </p:nvSpPr>
        <p:spPr>
          <a:xfrm>
            <a:off x="521109" y="6322801"/>
            <a:ext cx="11670891"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599436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C50C47D-89D0-84B7-6B51-A9CDAB2CEC0D}"/>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9089A708-8C47-4EE2-B6E7-D5B06DA16183}"/>
              </a:ext>
            </a:extLst>
          </p:cNvPr>
          <p:cNvSpPr txBox="1"/>
          <p:nvPr/>
        </p:nvSpPr>
        <p:spPr>
          <a:xfrm>
            <a:off x="245807" y="226142"/>
            <a:ext cx="5034116" cy="461665"/>
          </a:xfrm>
          <a:prstGeom prst="rect">
            <a:avLst/>
          </a:prstGeom>
          <a:noFill/>
        </p:spPr>
        <p:txBody>
          <a:bodyPr wrap="square" rtlCol="0">
            <a:spAutoFit/>
          </a:bodyPr>
          <a:lstStyle/>
          <a:p>
            <a:r>
              <a:rPr lang="en-US" sz="2400" dirty="0">
                <a:latin typeface="Baskerville Old Face" panose="02020602080505020303" pitchFamily="18" charset="0"/>
              </a:rPr>
              <a:t> Create the </a:t>
            </a:r>
            <a:r>
              <a:rPr lang="en-US" sz="2400" b="1" dirty="0">
                <a:latin typeface="Baskerville Old Face" panose="02020602080505020303" pitchFamily="18" charset="0"/>
              </a:rPr>
              <a:t>TARGET GROUPS </a:t>
            </a:r>
            <a:r>
              <a:rPr lang="en-US" sz="2400" dirty="0">
                <a:latin typeface="Baskerville Old Face" panose="02020602080505020303" pitchFamily="18" charset="0"/>
              </a:rPr>
              <a:t>🎯</a:t>
            </a:r>
            <a:endParaRPr lang="en-IN" sz="2400" dirty="0">
              <a:latin typeface="Baskerville Old Face" panose="02020602080505020303" pitchFamily="18" charset="0"/>
            </a:endParaRPr>
          </a:p>
        </p:txBody>
      </p:sp>
      <p:sp>
        <p:nvSpPr>
          <p:cNvPr id="7" name="TextBox 6">
            <a:extLst>
              <a:ext uri="{FF2B5EF4-FFF2-40B4-BE49-F238E27FC236}">
                <a16:creationId xmlns:a16="http://schemas.microsoft.com/office/drawing/2014/main" id="{C838B174-8474-DAF7-E243-D733445E3857}"/>
              </a:ext>
            </a:extLst>
          </p:cNvPr>
          <p:cNvSpPr txBox="1"/>
          <p:nvPr/>
        </p:nvSpPr>
        <p:spPr>
          <a:xfrm>
            <a:off x="560440" y="687807"/>
            <a:ext cx="6351639" cy="400110"/>
          </a:xfrm>
          <a:prstGeom prst="rect">
            <a:avLst/>
          </a:prstGeom>
          <a:noFill/>
        </p:spPr>
        <p:txBody>
          <a:bodyPr wrap="square" rtlCol="0">
            <a:spAutoFit/>
          </a:bodyPr>
          <a:lstStyle/>
          <a:p>
            <a:r>
              <a:rPr lang="en-US" sz="2000" dirty="0">
                <a:latin typeface="Cambria Math" panose="02040503050406030204" pitchFamily="18" charset="0"/>
                <a:ea typeface="Cambria Math" panose="02040503050406030204" pitchFamily="18" charset="0"/>
              </a:rPr>
              <a:t>17.  In the </a:t>
            </a:r>
            <a:r>
              <a:rPr lang="en-US" sz="2000" b="1" dirty="0">
                <a:latin typeface="Cambria Math" panose="02040503050406030204" pitchFamily="18" charset="0"/>
                <a:ea typeface="Cambria Math" panose="02040503050406030204" pitchFamily="18" charset="0"/>
              </a:rPr>
              <a:t>Load Balancing </a:t>
            </a:r>
            <a:r>
              <a:rPr lang="en-US" sz="2000" dirty="0">
                <a:latin typeface="Cambria Math" panose="02040503050406030204" pitchFamily="18" charset="0"/>
                <a:ea typeface="Cambria Math" panose="02040503050406030204" pitchFamily="18" charset="0"/>
              </a:rPr>
              <a:t>Section, click on</a:t>
            </a:r>
            <a:r>
              <a:rPr lang="en-US" sz="2000" b="1" dirty="0">
                <a:latin typeface="Cambria Math" panose="02040503050406030204" pitchFamily="18" charset="0"/>
                <a:ea typeface="Cambria Math" panose="02040503050406030204" pitchFamily="18" charset="0"/>
              </a:rPr>
              <a:t> Target Groups.</a:t>
            </a:r>
            <a:endParaRPr lang="en-IN" sz="2000" b="1" dirty="0">
              <a:latin typeface="Cambria Math" panose="02040503050406030204" pitchFamily="18" charset="0"/>
              <a:ea typeface="Cambria Math" panose="02040503050406030204" pitchFamily="18" charset="0"/>
            </a:endParaRPr>
          </a:p>
        </p:txBody>
      </p:sp>
      <p:pic>
        <p:nvPicPr>
          <p:cNvPr id="9" name="Picture 8">
            <a:extLst>
              <a:ext uri="{FF2B5EF4-FFF2-40B4-BE49-F238E27FC236}">
                <a16:creationId xmlns:a16="http://schemas.microsoft.com/office/drawing/2014/main" id="{84892E0D-8B61-5E29-440F-5B67749789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205" y="1402415"/>
            <a:ext cx="1561544" cy="1143099"/>
          </a:xfrm>
          <a:prstGeom prst="rect">
            <a:avLst/>
          </a:prstGeom>
        </p:spPr>
      </p:pic>
      <p:sp>
        <p:nvSpPr>
          <p:cNvPr id="10" name="TextBox 9">
            <a:extLst>
              <a:ext uri="{FF2B5EF4-FFF2-40B4-BE49-F238E27FC236}">
                <a16:creationId xmlns:a16="http://schemas.microsoft.com/office/drawing/2014/main" id="{5CAFCAC8-80D3-C58F-CC51-9863F18F3EFA}"/>
              </a:ext>
            </a:extLst>
          </p:cNvPr>
          <p:cNvSpPr txBox="1"/>
          <p:nvPr/>
        </p:nvSpPr>
        <p:spPr>
          <a:xfrm>
            <a:off x="619432" y="2624160"/>
            <a:ext cx="4286865" cy="461665"/>
          </a:xfrm>
          <a:prstGeom prst="rect">
            <a:avLst/>
          </a:prstGeom>
          <a:noFill/>
        </p:spPr>
        <p:txBody>
          <a:bodyPr wrap="square" rtlCol="0">
            <a:spAutoFit/>
          </a:bodyPr>
          <a:lstStyle/>
          <a:p>
            <a:r>
              <a:rPr lang="en-US" sz="2400" dirty="0">
                <a:latin typeface="Baskerville Old Face" panose="02020602080505020303" pitchFamily="18" charset="0"/>
              </a:rPr>
              <a:t>18. Click </a:t>
            </a:r>
            <a:r>
              <a:rPr lang="en-US" sz="2400" b="1" dirty="0">
                <a:latin typeface="Baskerville Old Face" panose="02020602080505020303" pitchFamily="18" charset="0"/>
              </a:rPr>
              <a:t>Create Target Group</a:t>
            </a:r>
            <a:r>
              <a:rPr lang="en-US" dirty="0">
                <a:latin typeface="Baskerville Old Face" panose="02020602080505020303" pitchFamily="18" charset="0"/>
              </a:rPr>
              <a:t>.</a:t>
            </a:r>
            <a:endParaRPr lang="en-IN" dirty="0">
              <a:latin typeface="Baskerville Old Face" panose="02020602080505020303" pitchFamily="18" charset="0"/>
            </a:endParaRPr>
          </a:p>
        </p:txBody>
      </p:sp>
      <p:sp>
        <p:nvSpPr>
          <p:cNvPr id="12" name="Rectangle 11">
            <a:extLst>
              <a:ext uri="{FF2B5EF4-FFF2-40B4-BE49-F238E27FC236}">
                <a16:creationId xmlns:a16="http://schemas.microsoft.com/office/drawing/2014/main" id="{6A9E5597-13EB-2D99-07B2-AC023D59CD47}"/>
              </a:ext>
            </a:extLst>
          </p:cNvPr>
          <p:cNvSpPr/>
          <p:nvPr/>
        </p:nvSpPr>
        <p:spPr>
          <a:xfrm>
            <a:off x="855406" y="1964132"/>
            <a:ext cx="1140542" cy="324465"/>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14" name="Picture 13">
            <a:extLst>
              <a:ext uri="{FF2B5EF4-FFF2-40B4-BE49-F238E27FC236}">
                <a16:creationId xmlns:a16="http://schemas.microsoft.com/office/drawing/2014/main" id="{20272967-B816-383A-A72D-1D90F4A210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432" y="3156156"/>
            <a:ext cx="10785987" cy="2133600"/>
          </a:xfrm>
          <a:prstGeom prst="rect">
            <a:avLst/>
          </a:prstGeom>
        </p:spPr>
      </p:pic>
      <p:sp>
        <p:nvSpPr>
          <p:cNvPr id="15" name="Rectangle 14">
            <a:extLst>
              <a:ext uri="{FF2B5EF4-FFF2-40B4-BE49-F238E27FC236}">
                <a16:creationId xmlns:a16="http://schemas.microsoft.com/office/drawing/2014/main" id="{E73D0DCA-14D5-1B39-47DF-1592518FD2C0}"/>
              </a:ext>
            </a:extLst>
          </p:cNvPr>
          <p:cNvSpPr/>
          <p:nvPr/>
        </p:nvSpPr>
        <p:spPr>
          <a:xfrm>
            <a:off x="5211097" y="4857135"/>
            <a:ext cx="1582993" cy="400110"/>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A313627A-D442-CC7D-307D-4CCEAEA6EE9E}"/>
              </a:ext>
            </a:extLst>
          </p:cNvPr>
          <p:cNvSpPr txBox="1"/>
          <p:nvPr/>
        </p:nvSpPr>
        <p:spPr>
          <a:xfrm>
            <a:off x="560440" y="6343899"/>
            <a:ext cx="11808541"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751839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5AA0E16-42D8-1E8D-825A-D697AF2267E8}"/>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1DF6B48E-8E59-F1D7-2AA1-128E5C39543B}"/>
              </a:ext>
            </a:extLst>
          </p:cNvPr>
          <p:cNvSpPr txBox="1"/>
          <p:nvPr/>
        </p:nvSpPr>
        <p:spPr>
          <a:xfrm>
            <a:off x="314632" y="206477"/>
            <a:ext cx="7216878" cy="461665"/>
          </a:xfrm>
          <a:prstGeom prst="rect">
            <a:avLst/>
          </a:prstGeom>
          <a:noFill/>
        </p:spPr>
        <p:txBody>
          <a:bodyPr wrap="square" rtlCol="0">
            <a:spAutoFit/>
          </a:bodyPr>
          <a:lstStyle/>
          <a:p>
            <a:r>
              <a:rPr lang="en-US" sz="2400" dirty="0">
                <a:latin typeface="Baskerville Old Face" panose="02020602080505020303" pitchFamily="18" charset="0"/>
              </a:rPr>
              <a:t>19. Enter a </a:t>
            </a:r>
            <a:r>
              <a:rPr lang="en-US" sz="2400" b="1" dirty="0">
                <a:latin typeface="Baskerville Old Face" panose="02020602080505020303" pitchFamily="18" charset="0"/>
              </a:rPr>
              <a:t>Target Group </a:t>
            </a:r>
            <a:r>
              <a:rPr lang="en-US" sz="2400" dirty="0">
                <a:latin typeface="Baskerville Old Face" panose="02020602080505020303" pitchFamily="18" charset="0"/>
              </a:rPr>
              <a:t>name, then click </a:t>
            </a:r>
            <a:r>
              <a:rPr lang="en-US" sz="2400" b="1" dirty="0">
                <a:latin typeface="Baskerville Old Face" panose="02020602080505020303" pitchFamily="18" charset="0"/>
              </a:rPr>
              <a:t>Next</a:t>
            </a:r>
            <a:r>
              <a:rPr lang="en-US" sz="2400" dirty="0">
                <a:latin typeface="Baskerville Old Face" panose="02020602080505020303" pitchFamily="18" charset="0"/>
              </a:rPr>
              <a:t>.</a:t>
            </a:r>
            <a:endParaRPr lang="en-IN" sz="2400" dirty="0">
              <a:latin typeface="Baskerville Old Face" panose="02020602080505020303" pitchFamily="18" charset="0"/>
            </a:endParaRPr>
          </a:p>
        </p:txBody>
      </p:sp>
      <p:pic>
        <p:nvPicPr>
          <p:cNvPr id="9" name="Picture 8">
            <a:extLst>
              <a:ext uri="{FF2B5EF4-FFF2-40B4-BE49-F238E27FC236}">
                <a16:creationId xmlns:a16="http://schemas.microsoft.com/office/drawing/2014/main" id="{D59CA39D-A003-F10A-C333-5CAC25664A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719" y="766464"/>
            <a:ext cx="8286113" cy="2362405"/>
          </a:xfrm>
          <a:prstGeom prst="rect">
            <a:avLst/>
          </a:prstGeom>
        </p:spPr>
      </p:pic>
      <p:pic>
        <p:nvPicPr>
          <p:cNvPr id="11" name="Picture 10">
            <a:extLst>
              <a:ext uri="{FF2B5EF4-FFF2-40B4-BE49-F238E27FC236}">
                <a16:creationId xmlns:a16="http://schemas.microsoft.com/office/drawing/2014/main" id="{27EC8D1E-1273-573A-BC24-F494CCAA7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720" y="3426542"/>
            <a:ext cx="10586862" cy="2571135"/>
          </a:xfrm>
          <a:prstGeom prst="rect">
            <a:avLst/>
          </a:prstGeom>
        </p:spPr>
      </p:pic>
      <p:sp>
        <p:nvSpPr>
          <p:cNvPr id="13" name="Rectangle 12">
            <a:extLst>
              <a:ext uri="{FF2B5EF4-FFF2-40B4-BE49-F238E27FC236}">
                <a16:creationId xmlns:a16="http://schemas.microsoft.com/office/drawing/2014/main" id="{F037EB57-2661-A077-1655-EC77FF4F0FF4}"/>
              </a:ext>
            </a:extLst>
          </p:cNvPr>
          <p:cNvSpPr/>
          <p:nvPr/>
        </p:nvSpPr>
        <p:spPr>
          <a:xfrm>
            <a:off x="10392697" y="5397910"/>
            <a:ext cx="931583" cy="501445"/>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82F1D6C1-2618-178F-9C64-DA3F5310F0FA}"/>
              </a:ext>
            </a:extLst>
          </p:cNvPr>
          <p:cNvSpPr txBox="1"/>
          <p:nvPr/>
        </p:nvSpPr>
        <p:spPr>
          <a:xfrm>
            <a:off x="511277" y="6385935"/>
            <a:ext cx="11818374"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627425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FA71E6E-54F3-B6BC-3DA9-F5146CE877B0}"/>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4" name="TextBox 3">
            <a:extLst>
              <a:ext uri="{FF2B5EF4-FFF2-40B4-BE49-F238E27FC236}">
                <a16:creationId xmlns:a16="http://schemas.microsoft.com/office/drawing/2014/main" id="{DB4BE549-AF46-C76A-8B48-FBAC29F5D874}"/>
              </a:ext>
            </a:extLst>
          </p:cNvPr>
          <p:cNvSpPr txBox="1"/>
          <p:nvPr/>
        </p:nvSpPr>
        <p:spPr>
          <a:xfrm>
            <a:off x="285136" y="226142"/>
            <a:ext cx="6282812" cy="461665"/>
          </a:xfrm>
          <a:prstGeom prst="rect">
            <a:avLst/>
          </a:prstGeom>
          <a:noFill/>
        </p:spPr>
        <p:txBody>
          <a:bodyPr wrap="square" rtlCol="0">
            <a:spAutoFit/>
          </a:bodyPr>
          <a:lstStyle/>
          <a:p>
            <a:r>
              <a:rPr lang="en-US" sz="2400" dirty="0">
                <a:latin typeface="Baskerville Old Face" panose="02020602080505020303" pitchFamily="18" charset="0"/>
              </a:rPr>
              <a:t>20. Select available instances and Register them.</a:t>
            </a:r>
            <a:endParaRPr lang="en-IN" sz="2400" dirty="0">
              <a:latin typeface="Baskerville Old Face" panose="02020602080505020303" pitchFamily="18" charset="0"/>
            </a:endParaRPr>
          </a:p>
        </p:txBody>
      </p:sp>
      <p:pic>
        <p:nvPicPr>
          <p:cNvPr id="10" name="Picture 9">
            <a:extLst>
              <a:ext uri="{FF2B5EF4-FFF2-40B4-BE49-F238E27FC236}">
                <a16:creationId xmlns:a16="http://schemas.microsoft.com/office/drawing/2014/main" id="{AB82C790-E4D0-7E8A-B81A-42202ED14E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426" y="805795"/>
            <a:ext cx="10859974" cy="2930464"/>
          </a:xfrm>
          <a:prstGeom prst="rect">
            <a:avLst/>
          </a:prstGeom>
        </p:spPr>
      </p:pic>
      <p:sp>
        <p:nvSpPr>
          <p:cNvPr id="11" name="Rectangle 10">
            <a:extLst>
              <a:ext uri="{FF2B5EF4-FFF2-40B4-BE49-F238E27FC236}">
                <a16:creationId xmlns:a16="http://schemas.microsoft.com/office/drawing/2014/main" id="{B9A426B5-1DE7-7DF2-199C-C2A912161CE0}"/>
              </a:ext>
            </a:extLst>
          </p:cNvPr>
          <p:cNvSpPr/>
          <p:nvPr/>
        </p:nvSpPr>
        <p:spPr>
          <a:xfrm>
            <a:off x="722426" y="924232"/>
            <a:ext cx="3338297" cy="304800"/>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pic>
        <p:nvPicPr>
          <p:cNvPr id="13" name="Picture 12">
            <a:extLst>
              <a:ext uri="{FF2B5EF4-FFF2-40B4-BE49-F238E27FC236}">
                <a16:creationId xmlns:a16="http://schemas.microsoft.com/office/drawing/2014/main" id="{E8B30174-1878-AAC0-7B15-A0A9DB3BC4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73888" y="3956610"/>
            <a:ext cx="3490262" cy="2110923"/>
          </a:xfrm>
          <a:prstGeom prst="rect">
            <a:avLst/>
          </a:prstGeom>
        </p:spPr>
      </p:pic>
      <p:sp>
        <p:nvSpPr>
          <p:cNvPr id="14" name="Rectangle 13">
            <a:extLst>
              <a:ext uri="{FF2B5EF4-FFF2-40B4-BE49-F238E27FC236}">
                <a16:creationId xmlns:a16="http://schemas.microsoft.com/office/drawing/2014/main" id="{9B91F1BC-1C44-3ABE-6650-5D5D346C6F30}"/>
              </a:ext>
            </a:extLst>
          </p:cNvPr>
          <p:cNvSpPr/>
          <p:nvPr/>
        </p:nvSpPr>
        <p:spPr>
          <a:xfrm>
            <a:off x="4778477" y="5456903"/>
            <a:ext cx="2379407" cy="511278"/>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77EB69AA-B9D1-FFF3-4759-080792BBA16C}"/>
              </a:ext>
            </a:extLst>
          </p:cNvPr>
          <p:cNvSpPr txBox="1"/>
          <p:nvPr/>
        </p:nvSpPr>
        <p:spPr>
          <a:xfrm>
            <a:off x="501446" y="6347274"/>
            <a:ext cx="11690554"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16916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5957CE-C3CD-7028-5B49-2F1CCA31A70B}"/>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1EABE397-CC26-A03D-6B28-1D9484C599E7}"/>
              </a:ext>
            </a:extLst>
          </p:cNvPr>
          <p:cNvSpPr txBox="1"/>
          <p:nvPr/>
        </p:nvSpPr>
        <p:spPr>
          <a:xfrm>
            <a:off x="265471" y="196645"/>
            <a:ext cx="6912078" cy="461665"/>
          </a:xfrm>
          <a:prstGeom prst="rect">
            <a:avLst/>
          </a:prstGeom>
          <a:noFill/>
        </p:spPr>
        <p:txBody>
          <a:bodyPr wrap="square" rtlCol="0">
            <a:spAutoFit/>
          </a:bodyPr>
          <a:lstStyle/>
          <a:p>
            <a:r>
              <a:rPr lang="en-US" sz="2400" dirty="0">
                <a:latin typeface="Baskerville Old Face" panose="02020602080505020303" pitchFamily="18" charset="0"/>
              </a:rPr>
              <a:t>21. Review Target and click </a:t>
            </a:r>
            <a:r>
              <a:rPr lang="en-US" sz="2400" b="1" dirty="0">
                <a:latin typeface="Baskerville Old Face" panose="02020602080505020303" pitchFamily="18" charset="0"/>
              </a:rPr>
              <a:t>Create Target Group.</a:t>
            </a:r>
            <a:endParaRPr lang="en-IN" sz="2400" b="1" dirty="0">
              <a:latin typeface="Baskerville Old Face" panose="02020602080505020303" pitchFamily="18" charset="0"/>
            </a:endParaRPr>
          </a:p>
        </p:txBody>
      </p:sp>
      <p:pic>
        <p:nvPicPr>
          <p:cNvPr id="10" name="Picture 9">
            <a:extLst>
              <a:ext uri="{FF2B5EF4-FFF2-40B4-BE49-F238E27FC236}">
                <a16:creationId xmlns:a16="http://schemas.microsoft.com/office/drawing/2014/main" id="{F7D78AF5-9061-D754-5447-2565231443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909" y="799073"/>
            <a:ext cx="11050491" cy="3792591"/>
          </a:xfrm>
          <a:prstGeom prst="rect">
            <a:avLst/>
          </a:prstGeom>
        </p:spPr>
      </p:pic>
      <p:sp>
        <p:nvSpPr>
          <p:cNvPr id="11" name="Rectangle 10">
            <a:extLst>
              <a:ext uri="{FF2B5EF4-FFF2-40B4-BE49-F238E27FC236}">
                <a16:creationId xmlns:a16="http://schemas.microsoft.com/office/drawing/2014/main" id="{B63C847E-2F45-FF5C-6252-785BBF5735C0}"/>
              </a:ext>
            </a:extLst>
          </p:cNvPr>
          <p:cNvSpPr/>
          <p:nvPr/>
        </p:nvSpPr>
        <p:spPr>
          <a:xfrm>
            <a:off x="9674942" y="3991897"/>
            <a:ext cx="1799303" cy="471948"/>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0D5D4E08-D55C-D481-4086-81128EFCEFD0}"/>
              </a:ext>
            </a:extLst>
          </p:cNvPr>
          <p:cNvSpPr txBox="1"/>
          <p:nvPr/>
        </p:nvSpPr>
        <p:spPr>
          <a:xfrm>
            <a:off x="531909" y="6322801"/>
            <a:ext cx="11680723"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507342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0AA7164-8F81-9832-0192-9C7B575A3056}"/>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4D9B868E-CD77-9B7A-B957-165DEBA476D7}"/>
              </a:ext>
            </a:extLst>
          </p:cNvPr>
          <p:cNvSpPr txBox="1"/>
          <p:nvPr/>
        </p:nvSpPr>
        <p:spPr>
          <a:xfrm>
            <a:off x="285136" y="216310"/>
            <a:ext cx="6646606" cy="461665"/>
          </a:xfrm>
          <a:prstGeom prst="rect">
            <a:avLst/>
          </a:prstGeom>
          <a:noFill/>
        </p:spPr>
        <p:txBody>
          <a:bodyPr wrap="square" rtlCol="0">
            <a:spAutoFit/>
          </a:bodyPr>
          <a:lstStyle/>
          <a:p>
            <a:r>
              <a:rPr lang="en-US" sz="2400" dirty="0">
                <a:latin typeface="Baskerville Old Face" panose="02020602080505020303" pitchFamily="18" charset="0"/>
              </a:rPr>
              <a:t>SET UP ELASTIC LOAD BALANCER (ELB)🔄️</a:t>
            </a:r>
            <a:endParaRPr lang="en-IN" sz="2400" dirty="0">
              <a:latin typeface="Baskerville Old Face" panose="02020602080505020303" pitchFamily="18" charset="0"/>
            </a:endParaRPr>
          </a:p>
        </p:txBody>
      </p:sp>
      <p:sp>
        <p:nvSpPr>
          <p:cNvPr id="6" name="TextBox 5">
            <a:extLst>
              <a:ext uri="{FF2B5EF4-FFF2-40B4-BE49-F238E27FC236}">
                <a16:creationId xmlns:a16="http://schemas.microsoft.com/office/drawing/2014/main" id="{094BFA38-A9E1-26E4-2F8E-D4E6AA32FEA5}"/>
              </a:ext>
            </a:extLst>
          </p:cNvPr>
          <p:cNvSpPr txBox="1"/>
          <p:nvPr/>
        </p:nvSpPr>
        <p:spPr>
          <a:xfrm>
            <a:off x="619433" y="786130"/>
            <a:ext cx="6892412" cy="400110"/>
          </a:xfrm>
          <a:prstGeom prst="rect">
            <a:avLst/>
          </a:prstGeom>
          <a:noFill/>
        </p:spPr>
        <p:txBody>
          <a:bodyPr wrap="square" rtlCol="0">
            <a:spAutoFit/>
          </a:bodyPr>
          <a:lstStyle/>
          <a:p>
            <a:r>
              <a:rPr lang="en-US" sz="2000" dirty="0">
                <a:latin typeface="Baskerville Old Face" panose="02020602080505020303" pitchFamily="18" charset="0"/>
              </a:rPr>
              <a:t>22. Go to </a:t>
            </a:r>
            <a:r>
              <a:rPr lang="en-US" sz="2000" b="1" dirty="0">
                <a:latin typeface="Baskerville Old Face" panose="02020602080505020303" pitchFamily="18" charset="0"/>
              </a:rPr>
              <a:t>Load Balancers </a:t>
            </a:r>
            <a:r>
              <a:rPr lang="en-US" sz="2000" dirty="0">
                <a:latin typeface="Baskerville Old Face" panose="02020602080505020303" pitchFamily="18" charset="0"/>
              </a:rPr>
              <a:t>in the </a:t>
            </a:r>
            <a:r>
              <a:rPr lang="en-US" sz="2000" b="1" dirty="0">
                <a:latin typeface="Baskerville Old Face" panose="02020602080505020303" pitchFamily="18" charset="0"/>
              </a:rPr>
              <a:t>Load Balancing </a:t>
            </a:r>
            <a:r>
              <a:rPr lang="en-US" sz="2000" dirty="0">
                <a:latin typeface="Baskerville Old Face" panose="02020602080505020303" pitchFamily="18" charset="0"/>
              </a:rPr>
              <a:t>sections</a:t>
            </a:r>
            <a:endParaRPr lang="en-IN" sz="2000" dirty="0">
              <a:latin typeface="Baskerville Old Face" panose="02020602080505020303" pitchFamily="18" charset="0"/>
            </a:endParaRPr>
          </a:p>
        </p:txBody>
      </p:sp>
      <p:pic>
        <p:nvPicPr>
          <p:cNvPr id="8" name="Picture 7">
            <a:extLst>
              <a:ext uri="{FF2B5EF4-FFF2-40B4-BE49-F238E27FC236}">
                <a16:creationId xmlns:a16="http://schemas.microsoft.com/office/drawing/2014/main" id="{284466C7-5F7D-6A6A-A4C4-BB797E382C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311" y="1355950"/>
            <a:ext cx="1651392" cy="1249598"/>
          </a:xfrm>
          <a:prstGeom prst="rect">
            <a:avLst/>
          </a:prstGeom>
        </p:spPr>
      </p:pic>
      <p:sp>
        <p:nvSpPr>
          <p:cNvPr id="9" name="Rectangle 8">
            <a:extLst>
              <a:ext uri="{FF2B5EF4-FFF2-40B4-BE49-F238E27FC236}">
                <a16:creationId xmlns:a16="http://schemas.microsoft.com/office/drawing/2014/main" id="{4EA11EEC-373B-D069-0E83-D9F0F5814BF4}"/>
              </a:ext>
            </a:extLst>
          </p:cNvPr>
          <p:cNvSpPr/>
          <p:nvPr/>
        </p:nvSpPr>
        <p:spPr>
          <a:xfrm>
            <a:off x="1170039" y="1700981"/>
            <a:ext cx="1307690" cy="294967"/>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10" name="TextBox 9">
            <a:extLst>
              <a:ext uri="{FF2B5EF4-FFF2-40B4-BE49-F238E27FC236}">
                <a16:creationId xmlns:a16="http://schemas.microsoft.com/office/drawing/2014/main" id="{57ED265B-ECFD-DF35-5F0F-1D6409BD5DD6}"/>
              </a:ext>
            </a:extLst>
          </p:cNvPr>
          <p:cNvSpPr txBox="1"/>
          <p:nvPr/>
        </p:nvSpPr>
        <p:spPr>
          <a:xfrm>
            <a:off x="619433" y="2719746"/>
            <a:ext cx="6056671" cy="461665"/>
          </a:xfrm>
          <a:prstGeom prst="rect">
            <a:avLst/>
          </a:prstGeom>
          <a:noFill/>
        </p:spPr>
        <p:txBody>
          <a:bodyPr wrap="square" rtlCol="0">
            <a:spAutoFit/>
          </a:bodyPr>
          <a:lstStyle/>
          <a:p>
            <a:r>
              <a:rPr lang="en-US" sz="2400" dirty="0">
                <a:latin typeface="Baskerville Old Face" panose="02020602080505020303" pitchFamily="18" charset="0"/>
                <a:ea typeface="Cambria Math" panose="02040503050406030204" pitchFamily="18" charset="0"/>
              </a:rPr>
              <a:t>23. Click </a:t>
            </a:r>
            <a:r>
              <a:rPr lang="en-US" sz="2400" b="1" dirty="0">
                <a:latin typeface="Baskerville Old Face" panose="02020602080505020303" pitchFamily="18" charset="0"/>
                <a:ea typeface="Cambria Math" panose="02040503050406030204" pitchFamily="18" charset="0"/>
              </a:rPr>
              <a:t>Create Load Balancer</a:t>
            </a:r>
            <a:r>
              <a:rPr lang="en-US" sz="2400" dirty="0">
                <a:latin typeface="Baskerville Old Face" panose="02020602080505020303" pitchFamily="18" charset="0"/>
                <a:ea typeface="Cambria Math" panose="02040503050406030204" pitchFamily="18" charset="0"/>
              </a:rPr>
              <a:t>.</a:t>
            </a:r>
            <a:endParaRPr lang="en-IN" sz="2400" dirty="0">
              <a:latin typeface="Baskerville Old Face" panose="02020602080505020303" pitchFamily="18" charset="0"/>
              <a:ea typeface="Cambria Math" panose="02040503050406030204" pitchFamily="18" charset="0"/>
            </a:endParaRPr>
          </a:p>
        </p:txBody>
      </p:sp>
      <p:pic>
        <p:nvPicPr>
          <p:cNvPr id="12" name="Picture 11">
            <a:extLst>
              <a:ext uri="{FF2B5EF4-FFF2-40B4-BE49-F238E27FC236}">
                <a16:creationId xmlns:a16="http://schemas.microsoft.com/office/drawing/2014/main" id="{195D7D75-3E0B-06DE-79F7-2C79474BE0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781" y="3350922"/>
            <a:ext cx="11366090" cy="1948665"/>
          </a:xfrm>
          <a:prstGeom prst="rect">
            <a:avLst/>
          </a:prstGeom>
        </p:spPr>
      </p:pic>
      <p:sp>
        <p:nvSpPr>
          <p:cNvPr id="13" name="Rectangle 12">
            <a:extLst>
              <a:ext uri="{FF2B5EF4-FFF2-40B4-BE49-F238E27FC236}">
                <a16:creationId xmlns:a16="http://schemas.microsoft.com/office/drawing/2014/main" id="{D91EDE29-892E-47CA-9788-B1B5DDAD745C}"/>
              </a:ext>
            </a:extLst>
          </p:cNvPr>
          <p:cNvSpPr/>
          <p:nvPr/>
        </p:nvSpPr>
        <p:spPr>
          <a:xfrm>
            <a:off x="9645445" y="3429000"/>
            <a:ext cx="2064774" cy="415413"/>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C9D23DCD-AB3F-950E-BF19-1B2878DB91BA}"/>
              </a:ext>
            </a:extLst>
          </p:cNvPr>
          <p:cNvSpPr txBox="1"/>
          <p:nvPr/>
        </p:nvSpPr>
        <p:spPr>
          <a:xfrm>
            <a:off x="481781" y="6321854"/>
            <a:ext cx="11631561"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159626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801628-B6A5-EE91-AB91-1BDDB66F27FA}"/>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4" name="TextBox 3">
            <a:extLst>
              <a:ext uri="{FF2B5EF4-FFF2-40B4-BE49-F238E27FC236}">
                <a16:creationId xmlns:a16="http://schemas.microsoft.com/office/drawing/2014/main" id="{A6D62CC0-B29A-1BF4-B5BE-73BE911FE18B}"/>
              </a:ext>
            </a:extLst>
          </p:cNvPr>
          <p:cNvSpPr txBox="1"/>
          <p:nvPr/>
        </p:nvSpPr>
        <p:spPr>
          <a:xfrm>
            <a:off x="255638" y="226141"/>
            <a:ext cx="8593393" cy="461665"/>
          </a:xfrm>
          <a:prstGeom prst="rect">
            <a:avLst/>
          </a:prstGeom>
          <a:noFill/>
        </p:spPr>
        <p:txBody>
          <a:bodyPr wrap="square" rtlCol="0">
            <a:spAutoFit/>
          </a:bodyPr>
          <a:lstStyle/>
          <a:p>
            <a:r>
              <a:rPr lang="en-US" sz="2400" dirty="0">
                <a:latin typeface="Baskerville Old Face" panose="02020602080505020303" pitchFamily="18" charset="0"/>
              </a:rPr>
              <a:t>24. Choose the </a:t>
            </a:r>
            <a:r>
              <a:rPr lang="en-US" sz="2400" b="1" dirty="0">
                <a:latin typeface="Baskerville Old Face" panose="02020602080505020303" pitchFamily="18" charset="0"/>
              </a:rPr>
              <a:t>Application Load Balancer (ALB) </a:t>
            </a:r>
            <a:r>
              <a:rPr lang="en-US" sz="2400" dirty="0">
                <a:latin typeface="Baskerville Old Face" panose="02020602080505020303" pitchFamily="18" charset="0"/>
              </a:rPr>
              <a:t>and click </a:t>
            </a:r>
            <a:r>
              <a:rPr lang="en-US" sz="2400" b="1" dirty="0">
                <a:latin typeface="Baskerville Old Face" panose="02020602080505020303" pitchFamily="18" charset="0"/>
              </a:rPr>
              <a:t>Create</a:t>
            </a:r>
            <a:endParaRPr lang="en-IN" sz="2400" b="1" dirty="0">
              <a:latin typeface="Baskerville Old Face" panose="02020602080505020303" pitchFamily="18" charset="0"/>
            </a:endParaRPr>
          </a:p>
        </p:txBody>
      </p:sp>
      <p:pic>
        <p:nvPicPr>
          <p:cNvPr id="7" name="Picture 6">
            <a:extLst>
              <a:ext uri="{FF2B5EF4-FFF2-40B4-BE49-F238E27FC236}">
                <a16:creationId xmlns:a16="http://schemas.microsoft.com/office/drawing/2014/main" id="{AC5F7D32-5AFE-A90C-03B7-827EBF94DD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22" y="805792"/>
            <a:ext cx="3139712" cy="4549534"/>
          </a:xfrm>
          <a:prstGeom prst="rect">
            <a:avLst/>
          </a:prstGeom>
        </p:spPr>
      </p:pic>
      <p:pic>
        <p:nvPicPr>
          <p:cNvPr id="9" name="Picture 8">
            <a:extLst>
              <a:ext uri="{FF2B5EF4-FFF2-40B4-BE49-F238E27FC236}">
                <a16:creationId xmlns:a16="http://schemas.microsoft.com/office/drawing/2014/main" id="{61FC0CE9-5679-7FAB-9F2C-1713BE8F0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8072" y="1969803"/>
            <a:ext cx="2949196" cy="2072820"/>
          </a:xfrm>
          <a:prstGeom prst="rect">
            <a:avLst/>
          </a:prstGeom>
        </p:spPr>
      </p:pic>
      <p:sp>
        <p:nvSpPr>
          <p:cNvPr id="10" name="Rectangle 9">
            <a:extLst>
              <a:ext uri="{FF2B5EF4-FFF2-40B4-BE49-F238E27FC236}">
                <a16:creationId xmlns:a16="http://schemas.microsoft.com/office/drawing/2014/main" id="{1CBB553B-C56C-223C-5B88-42EBDC684641}"/>
              </a:ext>
            </a:extLst>
          </p:cNvPr>
          <p:cNvSpPr/>
          <p:nvPr/>
        </p:nvSpPr>
        <p:spPr>
          <a:xfrm>
            <a:off x="5093110" y="3426542"/>
            <a:ext cx="914400" cy="535858"/>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0DE50926-A0A9-2A30-DC61-C0CFCB9F68CC}"/>
              </a:ext>
            </a:extLst>
          </p:cNvPr>
          <p:cNvSpPr txBox="1"/>
          <p:nvPr/>
        </p:nvSpPr>
        <p:spPr>
          <a:xfrm>
            <a:off x="491612" y="6293305"/>
            <a:ext cx="11700388"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62027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37D09C9-2076-6831-DE90-CFF1C86D665D}"/>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4" name="TextBox 3">
            <a:extLst>
              <a:ext uri="{FF2B5EF4-FFF2-40B4-BE49-F238E27FC236}">
                <a16:creationId xmlns:a16="http://schemas.microsoft.com/office/drawing/2014/main" id="{A63B7727-7DD8-1691-0D27-D268B10D087F}"/>
              </a:ext>
            </a:extLst>
          </p:cNvPr>
          <p:cNvSpPr txBox="1"/>
          <p:nvPr/>
        </p:nvSpPr>
        <p:spPr>
          <a:xfrm>
            <a:off x="245807" y="206477"/>
            <a:ext cx="5987845" cy="461665"/>
          </a:xfrm>
          <a:prstGeom prst="rect">
            <a:avLst/>
          </a:prstGeom>
          <a:noFill/>
        </p:spPr>
        <p:txBody>
          <a:bodyPr wrap="square" rtlCol="0">
            <a:spAutoFit/>
          </a:bodyPr>
          <a:lstStyle/>
          <a:p>
            <a:r>
              <a:rPr lang="en-US" sz="2400" dirty="0">
                <a:latin typeface="Baskerville Old Face" panose="02020602080505020303" pitchFamily="18" charset="0"/>
              </a:rPr>
              <a:t>25. Enter the</a:t>
            </a:r>
            <a:r>
              <a:rPr lang="en-US" sz="2400" b="1" dirty="0">
                <a:latin typeface="Baskerville Old Face" panose="02020602080505020303" pitchFamily="18" charset="0"/>
              </a:rPr>
              <a:t> name</a:t>
            </a:r>
            <a:r>
              <a:rPr lang="en-US" sz="2400" dirty="0">
                <a:latin typeface="Baskerville Old Face" panose="02020602080505020303" pitchFamily="18" charset="0"/>
              </a:rPr>
              <a:t> for the Load Balancer.</a:t>
            </a:r>
            <a:endParaRPr lang="en-IN" sz="2400" dirty="0">
              <a:latin typeface="Baskerville Old Face" panose="02020602080505020303" pitchFamily="18" charset="0"/>
            </a:endParaRPr>
          </a:p>
        </p:txBody>
      </p:sp>
      <p:pic>
        <p:nvPicPr>
          <p:cNvPr id="7" name="Picture 6">
            <a:extLst>
              <a:ext uri="{FF2B5EF4-FFF2-40B4-BE49-F238E27FC236}">
                <a16:creationId xmlns:a16="http://schemas.microsoft.com/office/drawing/2014/main" id="{6FDA6656-A120-78A5-35EC-769D0E1239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720" y="766464"/>
            <a:ext cx="9954106" cy="2222542"/>
          </a:xfrm>
          <a:prstGeom prst="rect">
            <a:avLst/>
          </a:prstGeom>
        </p:spPr>
      </p:pic>
      <p:sp>
        <p:nvSpPr>
          <p:cNvPr id="8" name="TextBox 7">
            <a:extLst>
              <a:ext uri="{FF2B5EF4-FFF2-40B4-BE49-F238E27FC236}">
                <a16:creationId xmlns:a16="http://schemas.microsoft.com/office/drawing/2014/main" id="{F0F47763-5B9C-FA23-CF9D-84EBD3ED85A0}"/>
              </a:ext>
            </a:extLst>
          </p:cNvPr>
          <p:cNvSpPr txBox="1"/>
          <p:nvPr/>
        </p:nvSpPr>
        <p:spPr>
          <a:xfrm>
            <a:off x="245807" y="3087328"/>
            <a:ext cx="7423355" cy="461665"/>
          </a:xfrm>
          <a:prstGeom prst="rect">
            <a:avLst/>
          </a:prstGeom>
          <a:noFill/>
        </p:spPr>
        <p:txBody>
          <a:bodyPr wrap="square" rtlCol="0">
            <a:spAutoFit/>
          </a:bodyPr>
          <a:lstStyle/>
          <a:p>
            <a:r>
              <a:rPr lang="en-US" sz="2400" dirty="0">
                <a:latin typeface="Baskerville Old Face" panose="02020602080505020303" pitchFamily="18" charset="0"/>
              </a:rPr>
              <a:t>26. In </a:t>
            </a:r>
            <a:r>
              <a:rPr lang="en-US" sz="2400" b="1" dirty="0">
                <a:latin typeface="Baskerville Old Face" panose="02020602080505020303" pitchFamily="18" charset="0"/>
              </a:rPr>
              <a:t>Network Mapping </a:t>
            </a:r>
            <a:r>
              <a:rPr lang="en-US" sz="2400" dirty="0">
                <a:latin typeface="Baskerville Old Face" panose="02020602080505020303" pitchFamily="18" charset="0"/>
              </a:rPr>
              <a:t>choose the </a:t>
            </a:r>
            <a:r>
              <a:rPr lang="en-US" sz="2400" b="1" dirty="0">
                <a:latin typeface="Baskerville Old Face" panose="02020602080505020303" pitchFamily="18" charset="0"/>
              </a:rPr>
              <a:t>Availability zone.</a:t>
            </a:r>
            <a:endParaRPr lang="en-IN" sz="2400" b="1" dirty="0">
              <a:latin typeface="Baskerville Old Face" panose="02020602080505020303" pitchFamily="18" charset="0"/>
            </a:endParaRPr>
          </a:p>
        </p:txBody>
      </p:sp>
      <p:pic>
        <p:nvPicPr>
          <p:cNvPr id="10" name="Picture 9">
            <a:extLst>
              <a:ext uri="{FF2B5EF4-FFF2-40B4-BE49-F238E27FC236}">
                <a16:creationId xmlns:a16="http://schemas.microsoft.com/office/drawing/2014/main" id="{2E2CC57F-9D85-726D-9FDC-A6B266241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2720" y="3548994"/>
            <a:ext cx="10888170" cy="2615832"/>
          </a:xfrm>
          <a:prstGeom prst="rect">
            <a:avLst/>
          </a:prstGeom>
        </p:spPr>
      </p:pic>
      <p:sp>
        <p:nvSpPr>
          <p:cNvPr id="11" name="Rectangle 10">
            <a:extLst>
              <a:ext uri="{FF2B5EF4-FFF2-40B4-BE49-F238E27FC236}">
                <a16:creationId xmlns:a16="http://schemas.microsoft.com/office/drawing/2014/main" id="{A76AD8CF-3AAB-E6FF-8435-91613C27BE7F}"/>
              </a:ext>
            </a:extLst>
          </p:cNvPr>
          <p:cNvSpPr/>
          <p:nvPr/>
        </p:nvSpPr>
        <p:spPr>
          <a:xfrm>
            <a:off x="875071" y="5525729"/>
            <a:ext cx="1356852" cy="639097"/>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15E8E2E7-184E-46A4-A6FC-1266512A41D4}"/>
              </a:ext>
            </a:extLst>
          </p:cNvPr>
          <p:cNvSpPr txBox="1"/>
          <p:nvPr/>
        </p:nvSpPr>
        <p:spPr>
          <a:xfrm>
            <a:off x="530942" y="6386260"/>
            <a:ext cx="11808541"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6571030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0A2EA27-7CE1-6B0E-1B30-EC49038C7CFE}"/>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6" name="Picture 5">
            <a:extLst>
              <a:ext uri="{FF2B5EF4-FFF2-40B4-BE49-F238E27FC236}">
                <a16:creationId xmlns:a16="http://schemas.microsoft.com/office/drawing/2014/main" id="{ACBC7B30-4E2F-4F7D-6192-A4090CCE1C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367" y="889851"/>
            <a:ext cx="11267768" cy="4061770"/>
          </a:xfrm>
          <a:prstGeom prst="rect">
            <a:avLst/>
          </a:prstGeom>
        </p:spPr>
      </p:pic>
      <p:sp>
        <p:nvSpPr>
          <p:cNvPr id="7" name="TextBox 6">
            <a:extLst>
              <a:ext uri="{FF2B5EF4-FFF2-40B4-BE49-F238E27FC236}">
                <a16:creationId xmlns:a16="http://schemas.microsoft.com/office/drawing/2014/main" id="{C89D22C6-44A0-90B9-CAC5-7790FC9706F3}"/>
              </a:ext>
            </a:extLst>
          </p:cNvPr>
          <p:cNvSpPr txBox="1"/>
          <p:nvPr/>
        </p:nvSpPr>
        <p:spPr>
          <a:xfrm>
            <a:off x="462116" y="298948"/>
            <a:ext cx="4916129" cy="400110"/>
          </a:xfrm>
          <a:prstGeom prst="rect">
            <a:avLst/>
          </a:prstGeom>
          <a:noFill/>
        </p:spPr>
        <p:txBody>
          <a:bodyPr wrap="square" rtlCol="0">
            <a:spAutoFit/>
          </a:bodyPr>
          <a:lstStyle/>
          <a:p>
            <a:r>
              <a:rPr lang="en-US" sz="2000" dirty="0">
                <a:latin typeface="Cambria Math" panose="02040503050406030204" pitchFamily="18" charset="0"/>
                <a:ea typeface="Cambria Math" panose="02040503050406030204" pitchFamily="18" charset="0"/>
              </a:rPr>
              <a:t>Availability</a:t>
            </a:r>
            <a:r>
              <a:rPr lang="en-US" sz="2000" dirty="0"/>
              <a:t> zone</a:t>
            </a:r>
            <a:endParaRPr lang="en-IN" sz="2000" dirty="0"/>
          </a:p>
        </p:txBody>
      </p:sp>
      <p:sp>
        <p:nvSpPr>
          <p:cNvPr id="2" name="TextBox 1">
            <a:extLst>
              <a:ext uri="{FF2B5EF4-FFF2-40B4-BE49-F238E27FC236}">
                <a16:creationId xmlns:a16="http://schemas.microsoft.com/office/drawing/2014/main" id="{161D0BAF-9FF6-DA2F-F802-C43F4CE0D7C8}"/>
              </a:ext>
            </a:extLst>
          </p:cNvPr>
          <p:cNvSpPr txBox="1"/>
          <p:nvPr/>
        </p:nvSpPr>
        <p:spPr>
          <a:xfrm>
            <a:off x="511277" y="6332495"/>
            <a:ext cx="11680723"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7859666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52932CF-F5C4-DE2D-FA7E-48552930ACDF}"/>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4" name="TextBox 3">
            <a:extLst>
              <a:ext uri="{FF2B5EF4-FFF2-40B4-BE49-F238E27FC236}">
                <a16:creationId xmlns:a16="http://schemas.microsoft.com/office/drawing/2014/main" id="{008610BB-D06C-EC3A-471D-34C1B2C080AD}"/>
              </a:ext>
            </a:extLst>
          </p:cNvPr>
          <p:cNvSpPr txBox="1"/>
          <p:nvPr/>
        </p:nvSpPr>
        <p:spPr>
          <a:xfrm>
            <a:off x="314632" y="226142"/>
            <a:ext cx="9714271" cy="830997"/>
          </a:xfrm>
          <a:prstGeom prst="rect">
            <a:avLst/>
          </a:prstGeom>
          <a:noFill/>
        </p:spPr>
        <p:txBody>
          <a:bodyPr wrap="square" rtlCol="0">
            <a:spAutoFit/>
          </a:bodyPr>
          <a:lstStyle/>
          <a:p>
            <a:r>
              <a:rPr lang="en-US" sz="2400" dirty="0">
                <a:latin typeface="Baskerville Old Face" panose="02020602080505020303" pitchFamily="18" charset="0"/>
              </a:rPr>
              <a:t>27. In </a:t>
            </a:r>
            <a:r>
              <a:rPr lang="en-US" sz="2400" b="1" dirty="0">
                <a:latin typeface="Baskerville Old Face" panose="02020602080505020303" pitchFamily="18" charset="0"/>
              </a:rPr>
              <a:t>Security Group </a:t>
            </a:r>
            <a:r>
              <a:rPr lang="en-US" sz="2400" dirty="0">
                <a:latin typeface="Baskerville Old Face" panose="02020602080505020303" pitchFamily="18" charset="0"/>
              </a:rPr>
              <a:t>remove the default Security Group and attach the </a:t>
            </a:r>
            <a:r>
              <a:rPr lang="en-US" sz="2400" b="1" dirty="0">
                <a:latin typeface="Baskerville Old Face" panose="02020602080505020303" pitchFamily="18" charset="0"/>
              </a:rPr>
              <a:t>Security Group created earlier</a:t>
            </a:r>
            <a:endParaRPr lang="en-IN" sz="2400" b="1" dirty="0">
              <a:latin typeface="Baskerville Old Face" panose="02020602080505020303" pitchFamily="18" charset="0"/>
            </a:endParaRPr>
          </a:p>
        </p:txBody>
      </p:sp>
      <p:pic>
        <p:nvPicPr>
          <p:cNvPr id="7" name="Picture 6">
            <a:extLst>
              <a:ext uri="{FF2B5EF4-FFF2-40B4-BE49-F238E27FC236}">
                <a16:creationId xmlns:a16="http://schemas.microsoft.com/office/drawing/2014/main" id="{044C9FBA-CED3-5B7B-F7BE-00D065117C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954" y="1262911"/>
            <a:ext cx="11287433" cy="1971902"/>
          </a:xfrm>
          <a:prstGeom prst="rect">
            <a:avLst/>
          </a:prstGeom>
        </p:spPr>
      </p:pic>
      <p:pic>
        <p:nvPicPr>
          <p:cNvPr id="9" name="Picture 8">
            <a:extLst>
              <a:ext uri="{FF2B5EF4-FFF2-40B4-BE49-F238E27FC236}">
                <a16:creationId xmlns:a16="http://schemas.microsoft.com/office/drawing/2014/main" id="{5A234D9F-FF51-F382-008E-9113FE42A3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954" y="3623187"/>
            <a:ext cx="11287434" cy="1971901"/>
          </a:xfrm>
          <a:prstGeom prst="rect">
            <a:avLst/>
          </a:prstGeom>
        </p:spPr>
      </p:pic>
      <p:sp>
        <p:nvSpPr>
          <p:cNvPr id="3" name="TextBox 2">
            <a:extLst>
              <a:ext uri="{FF2B5EF4-FFF2-40B4-BE49-F238E27FC236}">
                <a16:creationId xmlns:a16="http://schemas.microsoft.com/office/drawing/2014/main" id="{62F59EAB-A466-6442-C135-8E233AD47FB7}"/>
              </a:ext>
            </a:extLst>
          </p:cNvPr>
          <p:cNvSpPr txBox="1"/>
          <p:nvPr/>
        </p:nvSpPr>
        <p:spPr>
          <a:xfrm>
            <a:off x="501445" y="6339984"/>
            <a:ext cx="11690555"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3407212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69C2880-51E5-194F-9C6E-883782835B0B}"/>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5" name="Picture 4">
            <a:extLst>
              <a:ext uri="{FF2B5EF4-FFF2-40B4-BE49-F238E27FC236}">
                <a16:creationId xmlns:a16="http://schemas.microsoft.com/office/drawing/2014/main" id="{22085B3F-5489-D0EA-FC4A-71F947333F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57" y="410938"/>
            <a:ext cx="11395588" cy="3374481"/>
          </a:xfrm>
          <a:prstGeom prst="rect">
            <a:avLst/>
          </a:prstGeom>
        </p:spPr>
      </p:pic>
      <p:pic>
        <p:nvPicPr>
          <p:cNvPr id="7" name="Picture 6">
            <a:extLst>
              <a:ext uri="{FF2B5EF4-FFF2-40B4-BE49-F238E27FC236}">
                <a16:creationId xmlns:a16="http://schemas.microsoft.com/office/drawing/2014/main" id="{32A8E4A3-E06C-E317-1D3D-640F09B3D8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456" y="4088202"/>
            <a:ext cx="11395589" cy="1968469"/>
          </a:xfrm>
          <a:prstGeom prst="rect">
            <a:avLst/>
          </a:prstGeom>
        </p:spPr>
      </p:pic>
      <p:sp>
        <p:nvSpPr>
          <p:cNvPr id="2" name="TextBox 1">
            <a:extLst>
              <a:ext uri="{FF2B5EF4-FFF2-40B4-BE49-F238E27FC236}">
                <a16:creationId xmlns:a16="http://schemas.microsoft.com/office/drawing/2014/main" id="{9151D4EA-FA9D-B919-162D-90447F0B0E0F}"/>
              </a:ext>
            </a:extLst>
          </p:cNvPr>
          <p:cNvSpPr txBox="1"/>
          <p:nvPr/>
        </p:nvSpPr>
        <p:spPr>
          <a:xfrm>
            <a:off x="471948" y="6359454"/>
            <a:ext cx="11720052"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436431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2B506D-2E79-F143-F461-7E9C3EB88E68}"/>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4" name="TextBox 3">
            <a:extLst>
              <a:ext uri="{FF2B5EF4-FFF2-40B4-BE49-F238E27FC236}">
                <a16:creationId xmlns:a16="http://schemas.microsoft.com/office/drawing/2014/main" id="{776EB69A-9FFD-33FB-FEFA-7605D74BFBC3}"/>
              </a:ext>
            </a:extLst>
          </p:cNvPr>
          <p:cNvSpPr txBox="1"/>
          <p:nvPr/>
        </p:nvSpPr>
        <p:spPr>
          <a:xfrm>
            <a:off x="285134" y="206478"/>
            <a:ext cx="9261988" cy="461665"/>
          </a:xfrm>
          <a:prstGeom prst="rect">
            <a:avLst/>
          </a:prstGeom>
          <a:noFill/>
        </p:spPr>
        <p:txBody>
          <a:bodyPr wrap="square" rtlCol="0">
            <a:spAutoFit/>
          </a:bodyPr>
          <a:lstStyle/>
          <a:p>
            <a:r>
              <a:rPr lang="en-US" sz="2400" dirty="0">
                <a:latin typeface="Baskerville Old Face" panose="02020602080505020303" pitchFamily="18" charset="0"/>
              </a:rPr>
              <a:t>28. In </a:t>
            </a:r>
            <a:r>
              <a:rPr lang="en-US" sz="2400" b="1" dirty="0">
                <a:latin typeface="Baskerville Old Face" panose="02020602080505020303" pitchFamily="18" charset="0"/>
              </a:rPr>
              <a:t>Listeners and Routing</a:t>
            </a:r>
            <a:r>
              <a:rPr lang="en-US" sz="2400" dirty="0">
                <a:latin typeface="Baskerville Old Face" panose="02020602080505020303" pitchFamily="18" charset="0"/>
              </a:rPr>
              <a:t>, attach the </a:t>
            </a:r>
            <a:r>
              <a:rPr lang="en-US" sz="2400" b="1" dirty="0">
                <a:latin typeface="Baskerville Old Face" panose="02020602080505020303" pitchFamily="18" charset="0"/>
              </a:rPr>
              <a:t>Target Group </a:t>
            </a:r>
            <a:r>
              <a:rPr lang="en-US" sz="2400" dirty="0">
                <a:latin typeface="Baskerville Old Face" panose="02020602080505020303" pitchFamily="18" charset="0"/>
              </a:rPr>
              <a:t>created earlier.</a:t>
            </a:r>
            <a:endParaRPr lang="en-IN" sz="2400" dirty="0">
              <a:latin typeface="Baskerville Old Face" panose="02020602080505020303" pitchFamily="18" charset="0"/>
            </a:endParaRPr>
          </a:p>
        </p:txBody>
      </p:sp>
      <p:pic>
        <p:nvPicPr>
          <p:cNvPr id="7" name="Picture 6">
            <a:extLst>
              <a:ext uri="{FF2B5EF4-FFF2-40B4-BE49-F238E27FC236}">
                <a16:creationId xmlns:a16="http://schemas.microsoft.com/office/drawing/2014/main" id="{5ADEDCD6-8A83-DADD-C5CE-336D3A3CCC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940" y="766466"/>
            <a:ext cx="11257937" cy="4065798"/>
          </a:xfrm>
          <a:prstGeom prst="rect">
            <a:avLst/>
          </a:prstGeom>
        </p:spPr>
      </p:pic>
      <p:sp>
        <p:nvSpPr>
          <p:cNvPr id="2" name="TextBox 1">
            <a:extLst>
              <a:ext uri="{FF2B5EF4-FFF2-40B4-BE49-F238E27FC236}">
                <a16:creationId xmlns:a16="http://schemas.microsoft.com/office/drawing/2014/main" id="{744E29A7-E17F-07F5-89E9-E7AD28708045}"/>
              </a:ext>
            </a:extLst>
          </p:cNvPr>
          <p:cNvSpPr txBox="1"/>
          <p:nvPr/>
        </p:nvSpPr>
        <p:spPr>
          <a:xfrm>
            <a:off x="432618" y="6312968"/>
            <a:ext cx="11651227"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6872046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04D5A7-4D63-94D4-9027-90946377DEB7}"/>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7" name="Picture 6">
            <a:extLst>
              <a:ext uri="{FF2B5EF4-FFF2-40B4-BE49-F238E27FC236}">
                <a16:creationId xmlns:a16="http://schemas.microsoft.com/office/drawing/2014/main" id="{E5C64FD8-98B7-D1DE-73DF-4679B37B69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458" y="548154"/>
            <a:ext cx="11434916" cy="2204878"/>
          </a:xfrm>
          <a:prstGeom prst="rect">
            <a:avLst/>
          </a:prstGeom>
        </p:spPr>
      </p:pic>
      <p:pic>
        <p:nvPicPr>
          <p:cNvPr id="9" name="Picture 8">
            <a:extLst>
              <a:ext uri="{FF2B5EF4-FFF2-40B4-BE49-F238E27FC236}">
                <a16:creationId xmlns:a16="http://schemas.microsoft.com/office/drawing/2014/main" id="{37F0B86F-5EE9-ECD8-9D5B-183B07896B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1666" y="3193031"/>
            <a:ext cx="9579170" cy="967824"/>
          </a:xfrm>
          <a:prstGeom prst="rect">
            <a:avLst/>
          </a:prstGeom>
        </p:spPr>
      </p:pic>
      <p:sp>
        <p:nvSpPr>
          <p:cNvPr id="2" name="TextBox 1">
            <a:extLst>
              <a:ext uri="{FF2B5EF4-FFF2-40B4-BE49-F238E27FC236}">
                <a16:creationId xmlns:a16="http://schemas.microsoft.com/office/drawing/2014/main" id="{A41684B5-CF41-C2D3-7700-1920C05560D0}"/>
              </a:ext>
            </a:extLst>
          </p:cNvPr>
          <p:cNvSpPr txBox="1"/>
          <p:nvPr/>
        </p:nvSpPr>
        <p:spPr>
          <a:xfrm>
            <a:off x="511277" y="6309846"/>
            <a:ext cx="11759380"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690988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5CE0138-9108-F04A-7481-594DBB732760}"/>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6" name="TextBox 5">
            <a:extLst>
              <a:ext uri="{FF2B5EF4-FFF2-40B4-BE49-F238E27FC236}">
                <a16:creationId xmlns:a16="http://schemas.microsoft.com/office/drawing/2014/main" id="{2CDD63F8-42F6-6567-66D9-9259AC92B7BA}"/>
              </a:ext>
            </a:extLst>
          </p:cNvPr>
          <p:cNvSpPr txBox="1"/>
          <p:nvPr/>
        </p:nvSpPr>
        <p:spPr>
          <a:xfrm>
            <a:off x="265471" y="206477"/>
            <a:ext cx="6902245" cy="461665"/>
          </a:xfrm>
          <a:prstGeom prst="rect">
            <a:avLst/>
          </a:prstGeom>
          <a:noFill/>
        </p:spPr>
        <p:txBody>
          <a:bodyPr wrap="square" rtlCol="0">
            <a:spAutoFit/>
          </a:bodyPr>
          <a:lstStyle/>
          <a:p>
            <a:r>
              <a:rPr lang="en-US" sz="2400" dirty="0">
                <a:latin typeface="Baskerville Old Face" panose="02020602080505020303" pitchFamily="18" charset="0"/>
              </a:rPr>
              <a:t>29. Scroll down and click </a:t>
            </a:r>
            <a:r>
              <a:rPr lang="en-US" sz="2400" b="1" dirty="0">
                <a:latin typeface="Baskerville Old Face" panose="02020602080505020303" pitchFamily="18" charset="0"/>
              </a:rPr>
              <a:t>Create Load Balancer.</a:t>
            </a:r>
            <a:endParaRPr lang="en-IN" sz="2400" b="1" dirty="0">
              <a:latin typeface="Baskerville Old Face" panose="02020602080505020303" pitchFamily="18" charset="0"/>
            </a:endParaRPr>
          </a:p>
        </p:txBody>
      </p:sp>
      <p:pic>
        <p:nvPicPr>
          <p:cNvPr id="8" name="Picture 7">
            <a:extLst>
              <a:ext uri="{FF2B5EF4-FFF2-40B4-BE49-F238E27FC236}">
                <a16:creationId xmlns:a16="http://schemas.microsoft.com/office/drawing/2014/main" id="{A603B7A8-9DB7-C90E-042A-40198582D0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19" y="897246"/>
            <a:ext cx="11307098" cy="3785313"/>
          </a:xfrm>
          <a:prstGeom prst="rect">
            <a:avLst/>
          </a:prstGeom>
        </p:spPr>
      </p:pic>
      <p:sp>
        <p:nvSpPr>
          <p:cNvPr id="9" name="Rectangle 8">
            <a:extLst>
              <a:ext uri="{FF2B5EF4-FFF2-40B4-BE49-F238E27FC236}">
                <a16:creationId xmlns:a16="http://schemas.microsoft.com/office/drawing/2014/main" id="{D2A96711-0D2D-6085-3C27-FD5240FB91C8}"/>
              </a:ext>
            </a:extLst>
          </p:cNvPr>
          <p:cNvSpPr/>
          <p:nvPr/>
        </p:nvSpPr>
        <p:spPr>
          <a:xfrm>
            <a:off x="9989574" y="4060723"/>
            <a:ext cx="1769807" cy="621836"/>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EBE6437D-365D-AC86-F5DD-91AB2DEEA193}"/>
              </a:ext>
            </a:extLst>
          </p:cNvPr>
          <p:cNvSpPr txBox="1"/>
          <p:nvPr/>
        </p:nvSpPr>
        <p:spPr>
          <a:xfrm>
            <a:off x="491612" y="6312969"/>
            <a:ext cx="11562736"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774315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488882E-EF30-5189-E306-80C3C1EFFECA}"/>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sp>
        <p:nvSpPr>
          <p:cNvPr id="6" name="TextBox 5">
            <a:extLst>
              <a:ext uri="{FF2B5EF4-FFF2-40B4-BE49-F238E27FC236}">
                <a16:creationId xmlns:a16="http://schemas.microsoft.com/office/drawing/2014/main" id="{04E8C11B-1DD7-1F24-4A59-8BB679AD3257}"/>
              </a:ext>
            </a:extLst>
          </p:cNvPr>
          <p:cNvSpPr txBox="1"/>
          <p:nvPr/>
        </p:nvSpPr>
        <p:spPr>
          <a:xfrm>
            <a:off x="226141" y="176981"/>
            <a:ext cx="5732207" cy="461665"/>
          </a:xfrm>
          <a:prstGeom prst="rect">
            <a:avLst/>
          </a:prstGeom>
          <a:noFill/>
        </p:spPr>
        <p:txBody>
          <a:bodyPr wrap="square" rtlCol="0">
            <a:spAutoFit/>
          </a:bodyPr>
          <a:lstStyle/>
          <a:p>
            <a:r>
              <a:rPr lang="en-US" sz="2400" dirty="0">
                <a:latin typeface="Baskerville Old Face" panose="02020602080505020303" pitchFamily="18" charset="0"/>
              </a:rPr>
              <a:t>30. Wait for the </a:t>
            </a:r>
            <a:r>
              <a:rPr lang="en-US" sz="2400" b="1" dirty="0">
                <a:latin typeface="Baskerville Old Face" panose="02020602080505020303" pitchFamily="18" charset="0"/>
              </a:rPr>
              <a:t>ELB</a:t>
            </a:r>
            <a:r>
              <a:rPr lang="en-US" sz="2400" dirty="0">
                <a:latin typeface="Baskerville Old Face" panose="02020602080505020303" pitchFamily="18" charset="0"/>
              </a:rPr>
              <a:t> </a:t>
            </a:r>
            <a:r>
              <a:rPr lang="en-US" sz="2400" b="1" dirty="0">
                <a:latin typeface="Baskerville Old Face" panose="02020602080505020303" pitchFamily="18" charset="0"/>
              </a:rPr>
              <a:t>status</a:t>
            </a:r>
            <a:r>
              <a:rPr lang="en-US" sz="2400" dirty="0">
                <a:latin typeface="Baskerville Old Face" panose="02020602080505020303" pitchFamily="18" charset="0"/>
              </a:rPr>
              <a:t> to become </a:t>
            </a:r>
            <a:r>
              <a:rPr lang="en-US" sz="2400" b="1" dirty="0">
                <a:latin typeface="Baskerville Old Face" panose="02020602080505020303" pitchFamily="18" charset="0"/>
              </a:rPr>
              <a:t>Active</a:t>
            </a:r>
            <a:endParaRPr lang="en-IN" sz="2400" b="1" dirty="0">
              <a:latin typeface="Baskerville Old Face" panose="02020602080505020303" pitchFamily="18" charset="0"/>
            </a:endParaRPr>
          </a:p>
        </p:txBody>
      </p:sp>
      <p:pic>
        <p:nvPicPr>
          <p:cNvPr id="8" name="Picture 7">
            <a:extLst>
              <a:ext uri="{FF2B5EF4-FFF2-40B4-BE49-F238E27FC236}">
                <a16:creationId xmlns:a16="http://schemas.microsoft.com/office/drawing/2014/main" id="{9A1A7579-7619-1BD3-9D0F-A59AB82BE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277" y="795342"/>
            <a:ext cx="11110452" cy="4425588"/>
          </a:xfrm>
          <a:prstGeom prst="rect">
            <a:avLst/>
          </a:prstGeom>
        </p:spPr>
      </p:pic>
      <p:sp>
        <p:nvSpPr>
          <p:cNvPr id="2" name="TextBox 1">
            <a:extLst>
              <a:ext uri="{FF2B5EF4-FFF2-40B4-BE49-F238E27FC236}">
                <a16:creationId xmlns:a16="http://schemas.microsoft.com/office/drawing/2014/main" id="{694A8B38-E905-285D-E8CC-BE4619C457AD}"/>
              </a:ext>
            </a:extLst>
          </p:cNvPr>
          <p:cNvSpPr txBox="1"/>
          <p:nvPr/>
        </p:nvSpPr>
        <p:spPr>
          <a:xfrm>
            <a:off x="511277" y="6388631"/>
            <a:ext cx="11739717" cy="584775"/>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a:p>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537906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1F19597-92F7-8399-C936-323A013B7B96}"/>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dirty="0"/>
          </a:p>
        </p:txBody>
      </p:sp>
      <p:pic>
        <p:nvPicPr>
          <p:cNvPr id="7" name="Picture 6">
            <a:extLst>
              <a:ext uri="{FF2B5EF4-FFF2-40B4-BE49-F238E27FC236}">
                <a16:creationId xmlns:a16="http://schemas.microsoft.com/office/drawing/2014/main" id="{5CA9ED4A-10C6-DEAF-0C1A-21C80E7B22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619" y="850311"/>
            <a:ext cx="11336594" cy="4115157"/>
          </a:xfrm>
          <a:prstGeom prst="rect">
            <a:avLst/>
          </a:prstGeom>
        </p:spPr>
      </p:pic>
      <p:sp>
        <p:nvSpPr>
          <p:cNvPr id="8" name="Rectangle 7">
            <a:extLst>
              <a:ext uri="{FF2B5EF4-FFF2-40B4-BE49-F238E27FC236}">
                <a16:creationId xmlns:a16="http://schemas.microsoft.com/office/drawing/2014/main" id="{33D7292C-660E-D442-D05C-68E6CF6D80B3}"/>
              </a:ext>
            </a:extLst>
          </p:cNvPr>
          <p:cNvSpPr/>
          <p:nvPr/>
        </p:nvSpPr>
        <p:spPr>
          <a:xfrm>
            <a:off x="3362632" y="1838632"/>
            <a:ext cx="924233" cy="619433"/>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384016CF-0044-0478-E0CB-49D0B4FBF226}"/>
              </a:ext>
            </a:extLst>
          </p:cNvPr>
          <p:cNvSpPr txBox="1"/>
          <p:nvPr/>
        </p:nvSpPr>
        <p:spPr>
          <a:xfrm>
            <a:off x="560439" y="6312309"/>
            <a:ext cx="11631561"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405440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43B687-55CD-E0EA-BEFB-9A6FD8D621C1}"/>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13B4396F-0E61-968C-1A41-179757142136}"/>
              </a:ext>
            </a:extLst>
          </p:cNvPr>
          <p:cNvSpPr txBox="1"/>
          <p:nvPr/>
        </p:nvSpPr>
        <p:spPr>
          <a:xfrm>
            <a:off x="275302" y="235974"/>
            <a:ext cx="10402530" cy="461665"/>
          </a:xfrm>
          <a:prstGeom prst="rect">
            <a:avLst/>
          </a:prstGeom>
          <a:noFill/>
        </p:spPr>
        <p:txBody>
          <a:bodyPr wrap="square" rtlCol="0">
            <a:spAutoFit/>
          </a:bodyPr>
          <a:lstStyle/>
          <a:p>
            <a:r>
              <a:rPr lang="en-US" sz="2400" dirty="0">
                <a:latin typeface="Baskerville Old Face" panose="02020602080505020303" pitchFamily="18" charset="0"/>
              </a:rPr>
              <a:t>31. Copy the </a:t>
            </a:r>
            <a:r>
              <a:rPr lang="en-US" sz="2400" b="1" dirty="0">
                <a:latin typeface="Baskerville Old Face" panose="02020602080505020303" pitchFamily="18" charset="0"/>
              </a:rPr>
              <a:t>DNS mode </a:t>
            </a:r>
            <a:r>
              <a:rPr lang="en-US" sz="2400" dirty="0">
                <a:latin typeface="Baskerville Old Face" panose="02020602080505020303" pitchFamily="18" charset="0"/>
              </a:rPr>
              <a:t>And Go to the Incognito window and paste </a:t>
            </a:r>
            <a:r>
              <a:rPr lang="en-US" sz="2400" b="1" dirty="0">
                <a:latin typeface="Baskerville Old Face" panose="02020602080505020303" pitchFamily="18" charset="0"/>
              </a:rPr>
              <a:t>DNS mode.</a:t>
            </a:r>
            <a:endParaRPr lang="en-IN" sz="2400" b="1" dirty="0">
              <a:latin typeface="Baskerville Old Face" panose="02020602080505020303" pitchFamily="18" charset="0"/>
            </a:endParaRPr>
          </a:p>
        </p:txBody>
      </p:sp>
      <p:pic>
        <p:nvPicPr>
          <p:cNvPr id="8" name="Picture 7">
            <a:extLst>
              <a:ext uri="{FF2B5EF4-FFF2-40B4-BE49-F238E27FC236}">
                <a16:creationId xmlns:a16="http://schemas.microsoft.com/office/drawing/2014/main" id="{E09BBB85-8470-D94A-837D-4784F3EF9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4732" y="825458"/>
            <a:ext cx="5682045" cy="893170"/>
          </a:xfrm>
          <a:prstGeom prst="rect">
            <a:avLst/>
          </a:prstGeom>
        </p:spPr>
      </p:pic>
      <p:pic>
        <p:nvPicPr>
          <p:cNvPr id="10" name="Picture 9">
            <a:extLst>
              <a:ext uri="{FF2B5EF4-FFF2-40B4-BE49-F238E27FC236}">
                <a16:creationId xmlns:a16="http://schemas.microsoft.com/office/drawing/2014/main" id="{3EE01255-9E14-2F88-6385-81955F2EF3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283" y="2166279"/>
            <a:ext cx="11110453" cy="1036670"/>
          </a:xfrm>
          <a:prstGeom prst="rect">
            <a:avLst/>
          </a:prstGeom>
        </p:spPr>
      </p:pic>
      <p:sp>
        <p:nvSpPr>
          <p:cNvPr id="2" name="TextBox 1">
            <a:extLst>
              <a:ext uri="{FF2B5EF4-FFF2-40B4-BE49-F238E27FC236}">
                <a16:creationId xmlns:a16="http://schemas.microsoft.com/office/drawing/2014/main" id="{6F08D0DE-C1FD-75CA-04FA-E506DF912302}"/>
              </a:ext>
            </a:extLst>
          </p:cNvPr>
          <p:cNvSpPr txBox="1"/>
          <p:nvPr/>
        </p:nvSpPr>
        <p:spPr>
          <a:xfrm>
            <a:off x="560439" y="6283472"/>
            <a:ext cx="11493909"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5754191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F39376E-97B8-7D9C-14EF-E78C2AEFFA46}"/>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pic>
        <p:nvPicPr>
          <p:cNvPr id="7" name="Picture 6">
            <a:extLst>
              <a:ext uri="{FF2B5EF4-FFF2-40B4-BE49-F238E27FC236}">
                <a16:creationId xmlns:a16="http://schemas.microsoft.com/office/drawing/2014/main" id="{E4BB003C-7118-E4CE-2B21-EDE50B781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605" y="432619"/>
            <a:ext cx="11061291" cy="5722376"/>
          </a:xfrm>
          <a:prstGeom prst="rect">
            <a:avLst/>
          </a:prstGeom>
        </p:spPr>
      </p:pic>
      <p:sp>
        <p:nvSpPr>
          <p:cNvPr id="2" name="TextBox 1">
            <a:extLst>
              <a:ext uri="{FF2B5EF4-FFF2-40B4-BE49-F238E27FC236}">
                <a16:creationId xmlns:a16="http://schemas.microsoft.com/office/drawing/2014/main" id="{AB52298D-149C-4CF4-7F54-184CBD3C5ADE}"/>
              </a:ext>
            </a:extLst>
          </p:cNvPr>
          <p:cNvSpPr txBox="1"/>
          <p:nvPr/>
        </p:nvSpPr>
        <p:spPr>
          <a:xfrm>
            <a:off x="530941" y="6406375"/>
            <a:ext cx="11661059"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76913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EC1AFB-333F-F903-17C5-F394B0B3C8D3}"/>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6" name="TextBox 5">
            <a:extLst>
              <a:ext uri="{FF2B5EF4-FFF2-40B4-BE49-F238E27FC236}">
                <a16:creationId xmlns:a16="http://schemas.microsoft.com/office/drawing/2014/main" id="{FC518666-752D-404B-0495-7E5F080BBD94}"/>
              </a:ext>
            </a:extLst>
          </p:cNvPr>
          <p:cNvSpPr txBox="1"/>
          <p:nvPr/>
        </p:nvSpPr>
        <p:spPr>
          <a:xfrm>
            <a:off x="304799" y="216310"/>
            <a:ext cx="7059561" cy="461665"/>
          </a:xfrm>
          <a:prstGeom prst="rect">
            <a:avLst/>
          </a:prstGeom>
          <a:noFill/>
        </p:spPr>
        <p:txBody>
          <a:bodyPr wrap="square" rtlCol="0">
            <a:spAutoFit/>
          </a:bodyPr>
          <a:lstStyle/>
          <a:p>
            <a:r>
              <a:rPr lang="en-US" sz="2400" dirty="0">
                <a:latin typeface="Baskerville Old Face" panose="02020602080505020303" pitchFamily="18" charset="0"/>
              </a:rPr>
              <a:t>32. Click </a:t>
            </a:r>
            <a:r>
              <a:rPr lang="en-US" sz="2400" b="1" dirty="0">
                <a:latin typeface="Baskerville Old Face" panose="02020602080505020303" pitchFamily="18" charset="0"/>
              </a:rPr>
              <a:t>Refresh Button. </a:t>
            </a:r>
            <a:r>
              <a:rPr lang="en-US" sz="2400" dirty="0">
                <a:latin typeface="Baskerville Old Face" panose="02020602080505020303" pitchFamily="18" charset="0"/>
              </a:rPr>
              <a:t>And see the </a:t>
            </a:r>
            <a:r>
              <a:rPr lang="en-US" sz="2400" b="1" dirty="0">
                <a:latin typeface="Baskerville Old Face" panose="02020602080505020303" pitchFamily="18" charset="0"/>
              </a:rPr>
              <a:t>Instance rotate.</a:t>
            </a:r>
            <a:endParaRPr lang="en-IN" sz="2400" b="1" dirty="0">
              <a:latin typeface="Baskerville Old Face" panose="02020602080505020303" pitchFamily="18" charset="0"/>
            </a:endParaRPr>
          </a:p>
        </p:txBody>
      </p:sp>
      <p:pic>
        <p:nvPicPr>
          <p:cNvPr id="8" name="Picture 7">
            <a:extLst>
              <a:ext uri="{FF2B5EF4-FFF2-40B4-BE49-F238E27FC236}">
                <a16:creationId xmlns:a16="http://schemas.microsoft.com/office/drawing/2014/main" id="{A7E3FE3B-7DE2-810D-908A-7FDEE9E7C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281" y="1131024"/>
            <a:ext cx="5037257" cy="4084674"/>
          </a:xfrm>
          <a:prstGeom prst="rect">
            <a:avLst/>
          </a:prstGeom>
        </p:spPr>
      </p:pic>
      <p:pic>
        <p:nvPicPr>
          <p:cNvPr id="10" name="Picture 9">
            <a:extLst>
              <a:ext uri="{FF2B5EF4-FFF2-40B4-BE49-F238E27FC236}">
                <a16:creationId xmlns:a16="http://schemas.microsoft.com/office/drawing/2014/main" id="{344ADF21-7B6E-E000-0E5F-EB80643E80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8567" y="1146265"/>
            <a:ext cx="5220152" cy="4054191"/>
          </a:xfrm>
          <a:prstGeom prst="rect">
            <a:avLst/>
          </a:prstGeom>
        </p:spPr>
      </p:pic>
      <p:sp>
        <p:nvSpPr>
          <p:cNvPr id="11" name="Rectangle 10">
            <a:extLst>
              <a:ext uri="{FF2B5EF4-FFF2-40B4-BE49-F238E27FC236}">
                <a16:creationId xmlns:a16="http://schemas.microsoft.com/office/drawing/2014/main" id="{CAA32C82-EC1E-A3A8-428A-CF2255ECAB55}"/>
              </a:ext>
            </a:extLst>
          </p:cNvPr>
          <p:cNvSpPr/>
          <p:nvPr/>
        </p:nvSpPr>
        <p:spPr>
          <a:xfrm>
            <a:off x="1622323" y="2172929"/>
            <a:ext cx="2939845" cy="865239"/>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12" name="Rectangle 11">
            <a:extLst>
              <a:ext uri="{FF2B5EF4-FFF2-40B4-BE49-F238E27FC236}">
                <a16:creationId xmlns:a16="http://schemas.microsoft.com/office/drawing/2014/main" id="{2535D3C2-516C-EE91-028E-6452DAA566BA}"/>
              </a:ext>
            </a:extLst>
          </p:cNvPr>
          <p:cNvSpPr/>
          <p:nvPr/>
        </p:nvSpPr>
        <p:spPr>
          <a:xfrm>
            <a:off x="7462684" y="2172929"/>
            <a:ext cx="3018503" cy="865239"/>
          </a:xfrm>
          <a:prstGeom prst="rect">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p:sp>
        <p:nvSpPr>
          <p:cNvPr id="2" name="TextBox 1">
            <a:extLst>
              <a:ext uri="{FF2B5EF4-FFF2-40B4-BE49-F238E27FC236}">
                <a16:creationId xmlns:a16="http://schemas.microsoft.com/office/drawing/2014/main" id="{A45708B4-54EB-2773-A0E1-168CF71ABDDF}"/>
              </a:ext>
            </a:extLst>
          </p:cNvPr>
          <p:cNvSpPr txBox="1"/>
          <p:nvPr/>
        </p:nvSpPr>
        <p:spPr>
          <a:xfrm>
            <a:off x="567702" y="6303136"/>
            <a:ext cx="11621730"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9531493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789727-C5B7-E9E2-2D81-6BB03A131E2A}"/>
              </a:ext>
            </a:extLst>
          </p:cNvPr>
          <p:cNvSpPr/>
          <p:nvPr/>
        </p:nvSpPr>
        <p:spPr>
          <a:xfrm>
            <a:off x="108155" y="108155"/>
            <a:ext cx="11946193" cy="6636774"/>
          </a:xfrm>
          <a:prstGeom prst="rect">
            <a:avLst/>
          </a:prstGeom>
          <a:noFill/>
          <a:ln w="28575">
            <a:solidFill>
              <a:schemeClr val="tx1"/>
            </a:solidFill>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8" name="TextBox 7">
            <a:extLst>
              <a:ext uri="{FF2B5EF4-FFF2-40B4-BE49-F238E27FC236}">
                <a16:creationId xmlns:a16="http://schemas.microsoft.com/office/drawing/2014/main" id="{53420ED7-9150-4890-C8E0-1FA6061587FC}"/>
              </a:ext>
            </a:extLst>
          </p:cNvPr>
          <p:cNvSpPr txBox="1"/>
          <p:nvPr/>
        </p:nvSpPr>
        <p:spPr>
          <a:xfrm>
            <a:off x="4572001" y="887385"/>
            <a:ext cx="8084127" cy="5078313"/>
          </a:xfrm>
          <a:prstGeom prst="rect">
            <a:avLst/>
          </a:prstGeom>
          <a:noFill/>
        </p:spPr>
        <p:txBody>
          <a:bodyPr wrap="square" rtlCol="0">
            <a:spAutoFit/>
          </a:bodyPr>
          <a:lstStyle/>
          <a:p>
            <a:r>
              <a:rPr lang="en-IN" dirty="0"/>
              <a:t>          Users</a:t>
            </a:r>
          </a:p>
          <a:p>
            <a:r>
              <a:rPr lang="en-IN" dirty="0"/>
              <a:t>              │</a:t>
            </a:r>
          </a:p>
          <a:p>
            <a:r>
              <a:rPr lang="en-IN" dirty="0"/>
              <a:t>             ▼</a:t>
            </a:r>
          </a:p>
          <a:p>
            <a:r>
              <a:rPr lang="en-IN" dirty="0"/>
              <a:t>      Load Balancer</a:t>
            </a:r>
          </a:p>
          <a:p>
            <a:r>
              <a:rPr lang="en-IN" dirty="0"/>
              <a:t>              │</a:t>
            </a:r>
          </a:p>
          <a:p>
            <a:r>
              <a:rPr lang="en-IN" dirty="0"/>
              <a:t>             ▼</a:t>
            </a:r>
          </a:p>
          <a:p>
            <a:r>
              <a:rPr lang="en-IN" dirty="0"/>
              <a:t>        Target Group</a:t>
            </a:r>
          </a:p>
          <a:p>
            <a:r>
              <a:rPr lang="en-IN" dirty="0"/>
              <a:t>    ┌──────┼──────┐</a:t>
            </a:r>
          </a:p>
          <a:p>
            <a:r>
              <a:rPr lang="en-IN" dirty="0"/>
              <a:t>    ▼       ▼        ▼</a:t>
            </a:r>
          </a:p>
          <a:p>
            <a:r>
              <a:rPr lang="en-IN" dirty="0"/>
              <a:t>   EC2-1   EC2-2   EC2-3</a:t>
            </a:r>
          </a:p>
          <a:p>
            <a:r>
              <a:rPr lang="en-IN" dirty="0"/>
              <a:t> (Healthy)(Healthy)(Unhealthy)</a:t>
            </a:r>
          </a:p>
          <a:p>
            <a:r>
              <a:rPr lang="en-IN" dirty="0"/>
              <a:t>     ▲     ▲</a:t>
            </a:r>
          </a:p>
          <a:p>
            <a:r>
              <a:rPr lang="en-IN" dirty="0"/>
              <a:t>      │      │</a:t>
            </a:r>
          </a:p>
          <a:p>
            <a:r>
              <a:rPr lang="en-IN" dirty="0"/>
              <a:t>Traffic sent only to healthy instances</a:t>
            </a:r>
          </a:p>
          <a:p>
            <a:endParaRPr lang="en-IN" dirty="0"/>
          </a:p>
          <a:p>
            <a:r>
              <a:rPr lang="en-IN" dirty="0"/>
              <a:t>Security Group protects:</a:t>
            </a:r>
          </a:p>
          <a:p>
            <a:r>
              <a:rPr lang="en-IN" dirty="0"/>
              <a:t>✔ Load Balancer</a:t>
            </a:r>
          </a:p>
          <a:p>
            <a:r>
              <a:rPr lang="en-IN" dirty="0"/>
              <a:t>✔ EC2 Instances</a:t>
            </a:r>
          </a:p>
        </p:txBody>
      </p:sp>
      <p:sp>
        <p:nvSpPr>
          <p:cNvPr id="2" name="TextBox 1">
            <a:extLst>
              <a:ext uri="{FF2B5EF4-FFF2-40B4-BE49-F238E27FC236}">
                <a16:creationId xmlns:a16="http://schemas.microsoft.com/office/drawing/2014/main" id="{A527CEC5-745D-8DB0-FE69-9FD1873963E0}"/>
              </a:ext>
            </a:extLst>
          </p:cNvPr>
          <p:cNvSpPr txBox="1"/>
          <p:nvPr/>
        </p:nvSpPr>
        <p:spPr>
          <a:xfrm>
            <a:off x="571500" y="266938"/>
            <a:ext cx="4145973" cy="461665"/>
          </a:xfrm>
          <a:prstGeom prst="rect">
            <a:avLst/>
          </a:prstGeom>
          <a:noFill/>
        </p:spPr>
        <p:txBody>
          <a:bodyPr wrap="square" rtlCol="0">
            <a:spAutoFit/>
          </a:bodyPr>
          <a:lstStyle/>
          <a:p>
            <a:r>
              <a:rPr lang="en-US" sz="2400" dirty="0">
                <a:latin typeface="Bookman Old Style" panose="02050604050505020204" pitchFamily="18" charset="0"/>
              </a:rPr>
              <a:t>Architecture</a:t>
            </a:r>
            <a:endParaRPr lang="en-IN" sz="2400" dirty="0">
              <a:latin typeface="Bookman Old Style" panose="02050604050505020204" pitchFamily="18" charset="0"/>
            </a:endParaRPr>
          </a:p>
        </p:txBody>
      </p:sp>
    </p:spTree>
    <p:extLst>
      <p:ext uri="{BB962C8B-B14F-4D97-AF65-F5344CB8AC3E}">
        <p14:creationId xmlns:p14="http://schemas.microsoft.com/office/powerpoint/2010/main" val="3338792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060599-622D-88DB-76EB-9CD0772A0166}"/>
              </a:ext>
            </a:extLst>
          </p:cNvPr>
          <p:cNvSpPr txBox="1"/>
          <p:nvPr/>
        </p:nvSpPr>
        <p:spPr>
          <a:xfrm>
            <a:off x="570271" y="6301233"/>
            <a:ext cx="11710219" cy="338554"/>
          </a:xfrm>
          <a:prstGeom prst="rect">
            <a:avLst/>
          </a:prstGeom>
          <a:noFill/>
        </p:spPr>
        <p:txBody>
          <a:bodyPr wrap="square" rtlCol="0">
            <a:spAutoFit/>
          </a:bodyPr>
          <a:lstStyle/>
          <a:p>
            <a:r>
              <a:rPr lang="en-US" sz="1600" dirty="0">
                <a:latin typeface="Cambria Math" panose="02040503050406030204" pitchFamily="18" charset="0"/>
                <a:ea typeface="Cambria Math" panose="02040503050406030204" pitchFamily="18" charset="0"/>
              </a:rPr>
              <a:t>ELB PROJECT DOCUMENTATION  													BY MOHIT GADILOHAR</a:t>
            </a:r>
            <a:endParaRPr lang="en-IN" sz="1600" dirty="0">
              <a:latin typeface="Cambria Math" panose="02040503050406030204" pitchFamily="18" charset="0"/>
              <a:ea typeface="Cambria Math" panose="02040503050406030204" pitchFamily="18" charset="0"/>
            </a:endParaRPr>
          </a:p>
        </p:txBody>
      </p:sp>
      <p:pic>
        <p:nvPicPr>
          <p:cNvPr id="4" name="Picture 3">
            <a:extLst>
              <a:ext uri="{FF2B5EF4-FFF2-40B4-BE49-F238E27FC236}">
                <a16:creationId xmlns:a16="http://schemas.microsoft.com/office/drawing/2014/main" id="{EB42E935-9904-C67A-E55A-AD42675715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624009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522</TotalTime>
  <Words>1463</Words>
  <Application>Microsoft Office PowerPoint</Application>
  <PresentationFormat>Widescreen</PresentationFormat>
  <Paragraphs>124</Paragraphs>
  <Slides>37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Baskerville Old Face</vt:lpstr>
      <vt:lpstr>Bookman Old Style</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Launch EC2 Instances💻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Mohit Lohar</dc:creator>
  <cp:lastModifiedBy>Mohit Lohar</cp:lastModifiedBy>
  <cp:revision>18</cp:revision>
  <dcterms:created xsi:type="dcterms:W3CDTF">2026-07-03T06:11:57Z</dcterms:created>
  <dcterms:modified xsi:type="dcterms:W3CDTF">2026-07-28T03:33:50Z</dcterms:modified>
</cp:coreProperties>
</file>